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charts/chart3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47"/>
  </p:notesMasterIdLst>
  <p:sldIdLst>
    <p:sldId id="341" r:id="rId2"/>
    <p:sldId id="378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96" r:id="rId12"/>
    <p:sldId id="387" r:id="rId13"/>
    <p:sldId id="397" r:id="rId14"/>
    <p:sldId id="388" r:id="rId15"/>
    <p:sldId id="265" r:id="rId16"/>
    <p:sldId id="389" r:id="rId17"/>
    <p:sldId id="395" r:id="rId18"/>
    <p:sldId id="391" r:id="rId19"/>
    <p:sldId id="392" r:id="rId20"/>
    <p:sldId id="393" r:id="rId21"/>
    <p:sldId id="394" r:id="rId22"/>
    <p:sldId id="398" r:id="rId23"/>
    <p:sldId id="399" r:id="rId24"/>
    <p:sldId id="400" r:id="rId25"/>
    <p:sldId id="401" r:id="rId26"/>
    <p:sldId id="402" r:id="rId27"/>
    <p:sldId id="403" r:id="rId28"/>
    <p:sldId id="404" r:id="rId29"/>
    <p:sldId id="405" r:id="rId30"/>
    <p:sldId id="321" r:id="rId31"/>
    <p:sldId id="406" r:id="rId32"/>
    <p:sldId id="407" r:id="rId33"/>
    <p:sldId id="408" r:id="rId34"/>
    <p:sldId id="409" r:id="rId35"/>
    <p:sldId id="410" r:id="rId36"/>
    <p:sldId id="411" r:id="rId37"/>
    <p:sldId id="412" r:id="rId38"/>
    <p:sldId id="413" r:id="rId39"/>
    <p:sldId id="414" r:id="rId40"/>
    <p:sldId id="415" r:id="rId41"/>
    <p:sldId id="416" r:id="rId42"/>
    <p:sldId id="417" r:id="rId43"/>
    <p:sldId id="418" r:id="rId44"/>
    <p:sldId id="320" r:id="rId45"/>
    <p:sldId id="319" r:id="rId4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73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584-4EA4-B2E1-63D164B1DB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584-4EA4-B2E1-63D164B1DB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584-4EA4-B2E1-63D164B1DBC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584-4EA4-B2E1-63D164B1DBC8}"/>
              </c:ext>
            </c:extLst>
          </c:dPt>
          <c:dPt>
            <c:idx val="4"/>
            <c:invertIfNegative val="0"/>
            <c:bubble3D val="0"/>
            <c:spPr>
              <a:solidFill>
                <a:srgbClr val="E105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84-4EA4-B2E1-63D164B1DB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744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120</c:v>
                </c:pt>
                <c:pt idx="2">
                  <c:v>165</c:v>
                </c:pt>
                <c:pt idx="3">
                  <c:v>230</c:v>
                </c:pt>
                <c:pt idx="4">
                  <c:v>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84-4EA4-B2E1-63D164B1DB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274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בפועל / Actual</c:v>
                </c:pt>
              </c:strCache>
            </c:strRef>
          </c:tx>
          <c:spPr>
            <a:ln w="38100" cap="flat">
              <a:solidFill>
                <a:srgbClr val="1A274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A2744"/>
              </a:solidFill>
              <a:ln w="9525" cap="flat">
                <a:solidFill>
                  <a:srgbClr val="1A274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Q1 '24</c:v>
                </c:pt>
                <c:pt idx="1">
                  <c:v>Q2 '24</c:v>
                </c:pt>
                <c:pt idx="2">
                  <c:v>Q3 '24</c:v>
                </c:pt>
                <c:pt idx="3">
                  <c:v>Q4 '24</c:v>
                </c:pt>
                <c:pt idx="4">
                  <c:v>Q1 '25</c:v>
                </c:pt>
                <c:pt idx="5">
                  <c:v>Q2 '25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1350</c:v>
                </c:pt>
                <c:pt idx="2">
                  <c:v>1500</c:v>
                </c:pt>
                <c:pt idx="3">
                  <c:v>1700</c:v>
                </c:pt>
                <c:pt idx="4">
                  <c:v>1850</c:v>
                </c:pt>
                <c:pt idx="5">
                  <c:v>2100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B58-4058-82E2-56997C52C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יעד / Target</c:v>
                </c:pt>
              </c:strCache>
            </c:strRef>
          </c:tx>
          <c:spPr>
            <a:ln w="38100" cap="flat">
              <a:solidFill>
                <a:srgbClr val="E105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10514"/>
              </a:solidFill>
              <a:ln w="9525" cap="flat">
                <a:solidFill>
                  <a:srgbClr val="E1051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Q1 '24</c:v>
                </c:pt>
                <c:pt idx="1">
                  <c:v>Q2 '24</c:v>
                </c:pt>
                <c:pt idx="2">
                  <c:v>Q3 '24</c:v>
                </c:pt>
                <c:pt idx="3">
                  <c:v>Q4 '24</c:v>
                </c:pt>
                <c:pt idx="4">
                  <c:v>Q1 '25</c:v>
                </c:pt>
                <c:pt idx="5">
                  <c:v>Q2 '25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1150</c:v>
                </c:pt>
                <c:pt idx="1">
                  <c:v>1300</c:v>
                </c:pt>
                <c:pt idx="2">
                  <c:v>1450</c:v>
                </c:pt>
                <c:pt idx="3">
                  <c:v>1600</c:v>
                </c:pt>
                <c:pt idx="4">
                  <c:v>1750</c:v>
                </c:pt>
                <c:pt idx="5">
                  <c:v>1900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B58-4058-82E2-56997C52C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744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Montserra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Montserrat"/>
              <a:cs typeface="Montserra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7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38-40CB-A15A-78A4D61EDE79}"/>
              </c:ext>
            </c:extLst>
          </c:dPt>
          <c:dPt>
            <c:idx val="1"/>
            <c:bubble3D val="0"/>
            <c:spPr>
              <a:solidFill>
                <a:srgbClr val="E1051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38-40CB-A15A-78A4D61EDE79}"/>
              </c:ext>
            </c:extLst>
          </c:dPt>
          <c:dPt>
            <c:idx val="2"/>
            <c:bubble3D val="0"/>
            <c:spPr>
              <a:solidFill>
                <a:srgbClr val="F5F0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38-40CB-A15A-78A4D61EDE79}"/>
              </c:ext>
            </c:extLst>
          </c:dPt>
          <c:dPt>
            <c:idx val="3"/>
            <c:bubble3D val="0"/>
            <c:spPr>
              <a:solidFill>
                <a:srgbClr val="FEBC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638-40CB-A15A-78A4D61EDE7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38-40CB-A15A-78A4D61EDE7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38-40CB-A15A-78A4D61EDE7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38-40CB-A15A-78A4D61EDE7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I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38-40CB-A15A-78A4D61EDE7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אירופה / Europe</c:v>
                </c:pt>
                <c:pt idx="1">
                  <c:v>ישראל / Israel</c:v>
                </c:pt>
                <c:pt idx="2">
                  <c:v>אסיה / Asia</c:v>
                </c:pt>
                <c:pt idx="3">
                  <c:v>אחר / 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30</c:v>
                </c:pt>
                <c:pt idx="2">
                  <c:v>18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638-40CB-A15A-78A4D61EDE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latin typeface="Rubik"/>
              <a:cs typeface="Rubik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F27D6-EF98-4780-8D34-6F48BC31721B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33E38-9EA6-45CA-904D-2AAB6E2A4D8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2540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CCE3-756E-6C2D-954F-707C1721E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340A9E-3346-C2EF-1152-AF918987C7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4A5FA4-5383-15BB-BDC2-6DBD417F0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6F5A2-D1A6-704F-93DB-51169E822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919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2867-E14C-989D-4824-6EC3B6CE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85C8C-8A5E-FB46-4C1C-1266333DC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139F0-E875-FB28-5BD4-E2BDF916B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650604-0AD1-6325-9BEE-63FBFBC902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0687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DDF1-52E2-2DD4-2EFB-7FDEFCC31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BB36C-4C01-D397-FAE2-6DE69580E4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B81935-B3F5-0887-83D4-2A384F316D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AAE5C-FE48-7623-B7C5-9CFA9ED977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67304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A5E2E-F44B-4264-F4F5-D0644C967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A258EA-E1B2-CD9B-024B-E1F2277FB3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8110F-47F9-A50E-663B-A9152170CF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E506E-3210-E8ED-C764-D3EA85C6F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8058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C8C89-B794-F016-50EB-BDCDCA1A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9310CB-D200-8F98-D726-BA8CB48564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6348C-4B86-86E6-E1BC-6F3F19BD3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772BD-23E6-84CA-00D8-67DB27601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76770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340D4-473A-C5CF-8F7A-4713D182C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CBA25-92EF-8265-9675-2880566B5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471DF-5950-8DD6-6989-F560676DA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391703-F1E4-1BED-68D5-2FA229F58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1632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8BCCE-674C-3F13-B404-C3A36CDF9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3A405-94CA-FCB4-0D2C-6B6DF1E58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54454-27AA-981A-D511-38E75612F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D208B7-A997-8532-5C66-AF45C3C216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8085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7FF8F-FBCC-E25B-5E06-60BC0F5D7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4ED3E3-B29B-A047-DB64-3FA717603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F40097-7A0D-FA84-0A90-5F0F407E4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71F19-FD73-8D12-A72E-23A7F41E0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0422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0D3B2-9177-0C3A-5E70-5516A5D2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F21CC-FE80-931F-8F8C-9BB57766B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77391-33DC-EE99-9213-43E5768E7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EB284-8ECA-DBC1-1AFF-CE224EDFE7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754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C9EA-0DA9-CA04-871B-802C51CB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74C211-D9CF-C672-425C-949EE30DA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D23D6-79AF-87BC-294C-3A9E5C782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C889E-6F5D-8D18-935A-1FE2435C3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34E06-B474-AFC2-1303-1C2FF7C5B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2384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5742E-D9B2-ABA2-A3A9-F2B51ADD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15EDC-584D-897C-3F92-01A48B98B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7CCB-4456-D2A6-6B9E-8B80FB60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4740F-9F97-45FB-37D6-2A74E2337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A7687-644B-B17F-6690-C28DB910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5776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E8A19-F406-23FB-5CE9-CB312F4B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EDE9-89F1-47D2-2B94-55D859117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FA056-BAF6-F991-3DBA-1CC25548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FD1CC-9722-D722-A880-95EA65A0F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D1D41-ED72-BC4C-4693-DC8656A19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6153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2DE0-4C2B-CBD1-2746-2B8766EC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3CEE9-63DF-948D-5CF9-F1A010716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92D7B-3387-D657-78A4-A3545E3806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7261C-1F62-9FEB-D454-027CBF4A2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FACEF1-3C45-4539-8C4D-9E016F7DB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F910A-D885-9B97-28F2-196C1578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7913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0964D-64CE-E1AA-92DB-BBEA21064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14368-F4B8-DFA0-756C-4CF0CFFCE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51BE5-0D4E-6EFE-9950-9958FDBCD3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EC1C9-521E-61F8-4CE7-CB731B0EB0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77806-9126-1BE0-4FC2-4D1E0ADB1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C78FD-0E30-F936-AD7C-43E2214E1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142BD3-1218-407C-D43D-641B0A1A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41470A-FEA8-41E1-E698-32E060471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96358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A5D22-8D40-2FEF-ED8D-BF0B8F80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1DA64-F847-CE1E-6DEC-CEC63B56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DDA3B-9CD4-EA66-B64A-A8BACC54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D43A6-DF5E-5C17-A3BD-3D09BEB5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867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952250-6DA5-6631-74C4-03B9FB134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B54153-6E0D-0B5F-C1BA-9F168DA9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8DF8B-5BE0-C5BF-D7DD-073BA1E03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28541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56EEA-B153-A6FC-A63C-891A8AB5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7FD51-F142-9D99-2337-615F846D3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FB1B43-E16E-9520-C0BC-64C5097CC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4086B-81AF-7BBE-9834-4C270A22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B0787-A05A-D7DD-2032-A56676E3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D01E3-784D-4957-7FE5-567F33A8D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4121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9C9F8-EA03-31FE-129D-143CD7724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B7AF1-96A8-580A-4A30-8617C0DD35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EA2015-7164-AF8D-955D-1101A5B9C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309E8-A9FC-E3D4-B400-3B7412698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C4DB-9593-F849-BA88-4C589EA7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9FE54-1B21-9F9C-D5F8-F17D08FFB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84395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F35BC-B35A-8315-2361-E3454AD2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A0F9B-06D3-D5F4-3094-94B5A84EFB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528A1-2096-66D9-0155-9A50DD184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3D372-3269-4D62-FE15-3528355A0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1E656-FA02-61AB-EEB0-D293D269B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1414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A190E9-E3F3-BFBC-DF99-6F36F78196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DD8E14-83F3-2F08-A18E-F39E90FA9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260FE-BAE3-FCAA-86A4-A721AF3FA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6DD5A-4BB1-7B62-FECE-F71070785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AABFF-30C4-099F-EC0A-4FB3BBAC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5025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14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F79BC2-9F9B-6724-D9BF-8EBDFCD03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D1F0B-569F-3254-E438-C7B7741D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279BB-4529-A4C8-27E4-8A2D61065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0ED73-7E7F-4FD8-B1C5-EB20A5ECEC3F}" type="datetimeFigureOut">
              <a:rPr lang="en-IL" smtClean="0"/>
              <a:t>20/03/2026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99077-8586-B41D-08C8-BFA502A5A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5D13E-A749-4121-9CC2-B95037C02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93EF6-F48C-4965-B223-690C58943EFC}" type="slidenum">
              <a:rPr lang="en-IL" smtClean="0"/>
              <a:t>‹#›</a:t>
            </a:fld>
            <a:endParaRPr lang="en-IL"/>
          </a:p>
        </p:txBody>
      </p:sp>
      <p:sp>
        <p:nvSpPr>
          <p:cNvPr id="900" name="RedAccent"/>
          <p:cNvSpPr/>
          <p:nvPr userDrawn="1"/>
        </p:nvSpPr>
        <p:spPr>
          <a:xfrm>
            <a:off x="0" y="6740525"/>
            <a:ext cx="12192000" cy="117475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99" name="PassportCard Accent Line"/>
          <p:cNvSpPr>
            <a:spLocks noChangeShapeType="1"/>
          </p:cNvSpPr>
          <p:nvPr userDrawn="1"/>
        </p:nvSpPr>
        <p:spPr>
          <a:xfrm>
            <a:off x="0" y="6381750"/>
            <a:ext cx="12192000" cy="0"/>
          </a:xfrm>
          <a:prstGeom prst="line">
            <a:avLst/>
          </a:prstGeom>
          <a:ln w="38100" cap="flat">
            <a:solidFill>
              <a:srgbClr val="E105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516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7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333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744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744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744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2744"/>
          </a:solidFill>
          <a:latin typeface="+mn-lt"/>
          <a:ea typeface="+mn-ea"/>
          <a:cs typeface="+mn-cs"/>
        </a:defRPr>
      </a:lvl9pPr>
    </p:bodyStyle>
    <p:otherStyle>
      <a:defPPr>
        <a:defRPr lang="en-IL">
          <a:solidFill>
            <a:srgbClr val="1A2744"/>
          </a:solidFill>
        </a:defRPr>
      </a:defPPr>
      <a:lvl1pPr marL="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333333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1A2744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1A2744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1A2744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1A2744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dArc"/>
          <p:cNvSpPr/>
          <p:nvPr/>
        </p:nvSpPr>
        <p:spPr>
          <a:xfrm>
            <a:off x="9144000" y="4572000"/>
            <a:ext cx="3048000" cy="2286000"/>
          </a:xfrm>
          <a:prstGeom prst="arc">
            <a:avLst>
              <a:gd name="adj1" fmla="val 10800000"/>
              <a:gd name="adj2" fmla="val 16200000"/>
            </a:avLst>
          </a:prstGeom>
          <a:noFill/>
          <a:ln w="76200">
            <a:solidFill>
              <a:srgbClr val="E10514">
                <a:alpha val="50000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RedLine"/>
          <p:cNvSpPr/>
          <p:nvPr/>
        </p:nvSpPr>
        <p:spPr>
          <a:xfrm>
            <a:off x="756000" y="3700000"/>
            <a:ext cx="2400000" cy="54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HeTitle"/>
          <p:cNvSpPr/>
          <p:nvPr/>
        </p:nvSpPr>
        <p:spPr>
          <a:xfrm>
            <a:off x="756000" y="2100000"/>
            <a:ext cx="10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b"/>
          <a:lstStyle/>
          <a:p>
            <a:pPr algn="r" rtl="1"/>
            <a:r>
              <a:rPr lang="he-IL" sz="3200" b="1" dirty="0">
                <a:solidFill>
                  <a:srgbClr val="FFFFFF"/>
                </a:solidFill>
                <a:latin typeface="Rubik"/>
                <a:cs typeface="Rubik"/>
              </a:rPr>
              <a:t>כותרת המצגת</a:t>
            </a:r>
          </a:p>
        </p:txBody>
      </p:sp>
      <p:sp>
        <p:nvSpPr>
          <p:cNvPr id="13" name="EnSubtitle"/>
          <p:cNvSpPr/>
          <p:nvPr/>
        </p:nvSpPr>
        <p:spPr>
          <a:xfrm>
            <a:off x="756000" y="2850000"/>
            <a:ext cx="10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 rtl="1"/>
            <a:r>
              <a:rPr lang="en-US" sz="1800" dirty="0">
                <a:solidFill>
                  <a:srgbClr val="F5F0EB"/>
                </a:solidFill>
                <a:latin typeface="Montserrat"/>
              </a:rPr>
              <a:t>Presentation Title</a:t>
            </a:r>
          </a:p>
        </p:txBody>
      </p:sp>
      <p:sp>
        <p:nvSpPr>
          <p:cNvPr id="14" name="DatePresenter"/>
          <p:cNvSpPr/>
          <p:nvPr/>
        </p:nvSpPr>
        <p:spPr>
          <a:xfrm>
            <a:off x="7620000" y="6100000"/>
            <a:ext cx="4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r"/>
            <a:r>
              <a:rPr lang="en-US" sz="1100" dirty="0">
                <a:solidFill>
                  <a:srgbClr val="FFFFFF"/>
                </a:solidFill>
                <a:latin typeface="Montserrat"/>
              </a:rPr>
              <a:t>Presenter Name  |  March 2026</a:t>
            </a:r>
          </a:p>
        </p:txBody>
      </p:sp>
      <p:sp>
        <p:nvSpPr>
          <p:cNvPr id="15" name="Logo"/>
          <p:cNvSpPr/>
          <p:nvPr/>
        </p:nvSpPr>
        <p:spPr>
          <a:xfrm>
            <a:off x="756000" y="350000"/>
            <a:ext cx="27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Montserrat"/>
              </a:rPr>
              <a:t>PASSPORTCARD</a:t>
            </a:r>
          </a:p>
        </p:txBody>
      </p:sp>
    </p:spTree>
    <p:extLst>
      <p:ext uri="{BB962C8B-B14F-4D97-AF65-F5344CB8AC3E}">
        <p14:creationId xmlns:p14="http://schemas.microsoft.com/office/powerpoint/2010/main" val="835746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219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8D77D-0A6C-1C6D-12F4-1D288734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424155-1D4B-8F88-616A-3E43DE0CA4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10514">
              <a:alpha val="70000"/>
            </a:srgbClr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CD2EC6-23EA-D1B8-1371-4E972B8098E5}"/>
              </a:ext>
            </a:extLst>
          </p:cNvPr>
          <p:cNvSpPr/>
          <p:nvPr/>
        </p:nvSpPr>
        <p:spPr>
          <a:xfrm>
            <a:off x="609600" y="341376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he-IL" sz="3600" b="1" dirty="0">
                <a:solidFill>
                  <a:srgbClr val="FFFFFF"/>
                </a:solidFill>
                <a:latin typeface="Rubik"/>
                <a:cs typeface="Rubik"/>
              </a:rPr>
              <a:t>כותרת המצגת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Montserrat"/>
                <a:cs typeface="Montserrat"/>
              </a:rPr>
              <a:t>Presentation Title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B1A556D5-E610-9D8C-EE86-DAEB12DA9E1D}"/>
              </a:ext>
            </a:extLst>
          </p:cNvPr>
          <p:cNvSpPr/>
          <p:nvPr/>
        </p:nvSpPr>
        <p:spPr>
          <a:xfrm>
            <a:off x="609600" y="48768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>
              <a:spcAft>
                <a:spcPts val="200"/>
              </a:spcAft>
              <a:buNone/>
            </a:pPr>
            <a:r>
              <a:rPr lang="he-IL" sz="1800" dirty="0">
                <a:solidFill>
                  <a:srgbClr val="FFFFFF">
                    <a:alpha val="80000"/>
                  </a:srgbClr>
                </a:solidFill>
                <a:latin typeface="Rubik"/>
                <a:cs typeface="Rubik"/>
              </a:rPr>
              <a:t>כותרת משנה או תאריך</a:t>
            </a:r>
          </a:p>
          <a:p>
            <a:pPr algn="ctr">
              <a:buNone/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Montserrat"/>
                <a:cs typeface="Montserrat"/>
              </a:rPr>
              <a:t>Subtitle or date goes here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C588078-CC03-4F9E-19F3-0ACFF094C2E3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  <p:pic>
        <p:nvPicPr>
          <p:cNvPr id="8" name="Picture 7" descr="Press Area | PassportCard Deutschland GmbH">
            <a:extLst>
              <a:ext uri="{FF2B5EF4-FFF2-40B4-BE49-F238E27FC236}">
                <a16:creationId xmlns:a16="http://schemas.microsoft.com/office/drawing/2014/main" id="{A9D02E14-B6E2-BA91-4717-E3A4CFB83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0417" y="754888"/>
            <a:ext cx="4171169" cy="241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69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48495-CC45-CDC9-8297-5DD8DAD67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6CFD4D3-969D-69A0-58C0-AB3AC20AD42A}"/>
              </a:ext>
            </a:extLst>
          </p:cNvPr>
          <p:cNvSpPr/>
          <p:nvPr/>
        </p:nvSpPr>
        <p:spPr>
          <a:xfrm>
            <a:off x="0" y="0"/>
            <a:ext cx="97536" cy="685800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9B55F11-D2C0-2CD7-9C69-B8E5A22CC137}"/>
              </a:ext>
            </a:extLst>
          </p:cNvPr>
          <p:cNvSpPr/>
          <p:nvPr/>
        </p:nvSpPr>
        <p:spPr>
          <a:xfrm>
            <a:off x="365760" y="609600"/>
            <a:ext cx="121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EBCBD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2832D3E-B0ED-111C-8802-1743E110B58D}"/>
              </a:ext>
            </a:extLst>
          </p:cNvPr>
          <p:cNvSpPr/>
          <p:nvPr/>
        </p:nvSpPr>
        <p:spPr>
          <a:xfrm>
            <a:off x="1219200" y="219456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600"/>
              </a:spcAft>
              <a:buNone/>
            </a:pPr>
            <a:r>
              <a:rPr lang="he-IL" sz="4800" b="1" dirty="0">
                <a:solidFill>
                  <a:srgbClr val="FFFFFF"/>
                </a:solidFill>
                <a:latin typeface="Rubik"/>
                <a:cs typeface="Rubik"/>
              </a:rPr>
              <a:t>כותרת הפרק</a:t>
            </a:r>
          </a:p>
          <a:p>
            <a:pPr algn="l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/>
                <a:cs typeface="Montserrat"/>
              </a:rPr>
              <a:t>Section Title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4317463-7500-76BE-8737-B16010CB1E78}"/>
              </a:ext>
            </a:extLst>
          </p:cNvPr>
          <p:cNvSpPr/>
          <p:nvPr/>
        </p:nvSpPr>
        <p:spPr>
          <a:xfrm>
            <a:off x="1219200" y="4145280"/>
            <a:ext cx="2438400" cy="0"/>
          </a:xfrm>
          <a:prstGeom prst="line">
            <a:avLst/>
          </a:prstGeom>
          <a:noFill/>
          <a:ln w="25400">
            <a:solidFill>
              <a:srgbClr val="E10514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7708BAF-B87A-4F9D-FD3D-20703AEDD006}"/>
              </a:ext>
            </a:extLst>
          </p:cNvPr>
          <p:cNvSpPr/>
          <p:nvPr/>
        </p:nvSpPr>
        <p:spPr>
          <a:xfrm>
            <a:off x="1219200" y="4511040"/>
            <a:ext cx="853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1800" dirty="0">
                <a:solidFill>
                  <a:srgbClr val="FFFFFF">
                    <a:alpha val="70000"/>
                  </a:srgbClr>
                </a:solidFill>
                <a:latin typeface="Rubik"/>
                <a:cs typeface="Rubik"/>
              </a:rPr>
              <a:t>תיאור קצר של הפרק</a:t>
            </a:r>
          </a:p>
          <a:p>
            <a:pPr algn="l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Montserrat"/>
                <a:cs typeface="Montserrat"/>
              </a:rPr>
              <a:t>Brief description of this section</a:t>
            </a:r>
          </a:p>
        </p:txBody>
      </p:sp>
    </p:spTree>
    <p:extLst>
      <p:ext uri="{BB962C8B-B14F-4D97-AF65-F5344CB8AC3E}">
        <p14:creationId xmlns:p14="http://schemas.microsoft.com/office/powerpoint/2010/main" val="1749150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89EF4-7DF2-A406-5473-75E5BAB26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CF17338-B94B-0F52-4EAE-C446E20D4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21E98E6-F23A-B648-9982-33FCFD5328F0}"/>
              </a:ext>
            </a:extLst>
          </p:cNvPr>
          <p:cNvSpPr/>
          <p:nvPr/>
        </p:nvSpPr>
        <p:spPr>
          <a:xfrm>
            <a:off x="609600" y="146304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400" b="1" dirty="0">
                <a:solidFill>
                  <a:srgbClr val="E10514"/>
                </a:solidFill>
                <a:latin typeface="Rubik"/>
                <a:cs typeface="Rubik"/>
              </a:rPr>
              <a:t>כותרת תוכן</a:t>
            </a:r>
          </a:p>
          <a:p>
            <a:pPr algn="l">
              <a:buNone/>
            </a:pPr>
            <a:r>
              <a:rPr lang="en-US" sz="3600" b="1" dirty="0">
                <a:solidFill>
                  <a:srgbClr val="E10514"/>
                </a:solidFill>
                <a:latin typeface="Montserrat"/>
                <a:cs typeface="Montserrat"/>
              </a:rPr>
              <a:t>Content Heading Goes Here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556ED19-FAAF-6002-FE72-93A013035D44}"/>
              </a:ext>
            </a:extLst>
          </p:cNvPr>
          <p:cNvSpPr/>
          <p:nvPr/>
        </p:nvSpPr>
        <p:spPr>
          <a:xfrm>
            <a:off x="609600" y="2560320"/>
            <a:ext cx="1097280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800"/>
              </a:spcAft>
              <a:buNone/>
            </a:pPr>
            <a:r>
              <a:rPr lang="he-IL" sz="1800" dirty="0">
                <a:solidFill>
                  <a:srgbClr val="333333"/>
                </a:solidFill>
                <a:latin typeface="Rubik"/>
                <a:cs typeface="Rubik"/>
              </a:rPr>
              <a:t>טקסט גוף נכתב כאן. השתמשו בשקף זה לתוכן טקסטואלי עם היררכיה ברורה וקריאות גבוהה.</a:t>
            </a:r>
          </a:p>
          <a:p>
            <a:pPr algn="l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cs typeface="Montserrat"/>
              </a:rPr>
              <a:t>Body text goes here. Use this slide for text-heavy content that needs clear hierarchy and readability. Keep paragraphs concise and focused on a single key message per slide.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4BEE805-44EC-BE7F-3EAB-BF6A568B8DE7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642240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21025A-B95D-D994-60F2-C9203BDB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388AD58-03B1-AFA1-A33B-6EBEEC10F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4267E22-9399-5579-8776-462C02884CA3}"/>
              </a:ext>
            </a:extLst>
          </p:cNvPr>
          <p:cNvSpPr/>
          <p:nvPr/>
        </p:nvSpPr>
        <p:spPr>
          <a:xfrm>
            <a:off x="609600" y="146304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400" b="1" dirty="0">
                <a:solidFill>
                  <a:srgbClr val="E10514"/>
                </a:solidFill>
                <a:latin typeface="Rubik"/>
                <a:cs typeface="Rubik"/>
              </a:rPr>
              <a:t>שתי עמודות עם הדגשה</a:t>
            </a:r>
          </a:p>
          <a:p>
            <a:pPr algn="l">
              <a:buNone/>
            </a:pPr>
            <a:r>
              <a:rPr lang="en-US" sz="3600" b="1" dirty="0">
                <a:solidFill>
                  <a:srgbClr val="E10514"/>
                </a:solidFill>
                <a:latin typeface="Montserrat"/>
                <a:cs typeface="Montserrat"/>
              </a:rPr>
              <a:t>Two Column Layout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6232D17-9E6E-EA7A-FD30-F1CFAEA7ED74}"/>
              </a:ext>
            </a:extLst>
          </p:cNvPr>
          <p:cNvSpPr/>
          <p:nvPr/>
        </p:nvSpPr>
        <p:spPr>
          <a:xfrm>
            <a:off x="609600" y="2682240"/>
            <a:ext cx="5120640" cy="3048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600"/>
              </a:spcAft>
              <a:buNone/>
            </a:pPr>
            <a:r>
              <a:rPr lang="he-IL" sz="1800" dirty="0">
                <a:solidFill>
                  <a:srgbClr val="333333"/>
                </a:solidFill>
                <a:latin typeface="Rubik"/>
                <a:cs typeface="Rubik"/>
              </a:rPr>
              <a:t>השתמשו בעמודה השמאלית לטקסט הסברתי, נקודות מפתח או תוכן נרטיבי.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cs typeface="Montserrat"/>
              </a:rPr>
              <a:t>Use the left column for explanatory text, key points, or narrative content.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86D8F16F-CE2A-3984-3BB7-79E386F798F6}"/>
              </a:ext>
            </a:extLst>
          </p:cNvPr>
          <p:cNvSpPr/>
          <p:nvPr/>
        </p:nvSpPr>
        <p:spPr>
          <a:xfrm>
            <a:off x="6339840" y="2438400"/>
            <a:ext cx="52425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A"/>
            </a:solidFill>
            <a:prstDash val="solid"/>
          </a:ln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636106B-2CAB-3C5F-CC0C-93361CB191BA}"/>
              </a:ext>
            </a:extLst>
          </p:cNvPr>
          <p:cNvSpPr/>
          <p:nvPr/>
        </p:nvSpPr>
        <p:spPr>
          <a:xfrm>
            <a:off x="6339840" y="2438400"/>
            <a:ext cx="5242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 or Chart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Placeholder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42BAE8D-9E56-E261-A0D9-790FA8AD7AEE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76289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0CB52-F72E-7C4A-B91D-E6E8032F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95372C2-55F2-52B3-7E92-A4BCE701E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7D34CA8-5CA5-F456-7DD2-BF969D2AC880}"/>
              </a:ext>
            </a:extLst>
          </p:cNvPr>
          <p:cNvSpPr/>
          <p:nvPr/>
        </p:nvSpPr>
        <p:spPr>
          <a:xfrm>
            <a:off x="609600" y="1341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400" b="1" dirty="0">
                <a:solidFill>
                  <a:srgbClr val="E10514"/>
                </a:solidFill>
                <a:latin typeface="Rubik"/>
                <a:cs typeface="Rubik"/>
              </a:rPr>
              <a:t>סקירת יתרונות מרכזיים</a:t>
            </a:r>
          </a:p>
          <a:p>
            <a:pPr algn="l">
              <a:buNone/>
            </a:pPr>
            <a:r>
              <a:rPr lang="en-US" sz="3600" b="1" dirty="0">
                <a:solidFill>
                  <a:srgbClr val="E10514"/>
                </a:solidFill>
                <a:latin typeface="Montserrat"/>
                <a:cs typeface="Montserrat"/>
              </a:rPr>
              <a:t>Key Features Overview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1155591D-F7F5-7634-86BE-45AC9E9957D4}"/>
              </a:ext>
            </a:extLst>
          </p:cNvPr>
          <p:cNvSpPr/>
          <p:nvPr/>
        </p:nvSpPr>
        <p:spPr>
          <a:xfrm>
            <a:off x="853440" y="2499360"/>
            <a:ext cx="548640" cy="54864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8A57D74-7BE3-6314-A2B9-16CC3907F351}"/>
              </a:ext>
            </a:extLst>
          </p:cNvPr>
          <p:cNvSpPr/>
          <p:nvPr/>
        </p:nvSpPr>
        <p:spPr>
          <a:xfrm>
            <a:off x="853440" y="2499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8060132-42D5-383D-F461-A32DB947D457}"/>
              </a:ext>
            </a:extLst>
          </p:cNvPr>
          <p:cNvSpPr/>
          <p:nvPr/>
        </p:nvSpPr>
        <p:spPr>
          <a:xfrm>
            <a:off x="1584960" y="237744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יתרון ראשון</a:t>
            </a:r>
          </a:p>
          <a:p>
            <a:pPr algn="l"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Feature Title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3D2711-9E31-31E9-941F-C5939A782DF6}"/>
              </a:ext>
            </a:extLst>
          </p:cNvPr>
          <p:cNvSpPr/>
          <p:nvPr/>
        </p:nvSpPr>
        <p:spPr>
          <a:xfrm>
            <a:off x="1584960" y="2926080"/>
            <a:ext cx="3901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 של היתרון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 of this feature and its value proposition.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A73951F-26D1-A5E2-ED67-EEE67D0855C0}"/>
              </a:ext>
            </a:extLst>
          </p:cNvPr>
          <p:cNvSpPr/>
          <p:nvPr/>
        </p:nvSpPr>
        <p:spPr>
          <a:xfrm>
            <a:off x="6461760" y="2499360"/>
            <a:ext cx="548640" cy="54864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286DA3-A754-83A5-D46F-7B99A8739D5F}"/>
              </a:ext>
            </a:extLst>
          </p:cNvPr>
          <p:cNvSpPr/>
          <p:nvPr/>
        </p:nvSpPr>
        <p:spPr>
          <a:xfrm>
            <a:off x="6461760" y="2499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C0EF8FA-5782-ED2F-7720-0BBA85B76621}"/>
              </a:ext>
            </a:extLst>
          </p:cNvPr>
          <p:cNvSpPr/>
          <p:nvPr/>
        </p:nvSpPr>
        <p:spPr>
          <a:xfrm>
            <a:off x="7193280" y="237744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יתרון שני</a:t>
            </a:r>
          </a:p>
          <a:p>
            <a:pPr algn="l"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Feature Title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AA78D33-FD8D-CB4B-E920-3E8B936A9D2E}"/>
              </a:ext>
            </a:extLst>
          </p:cNvPr>
          <p:cNvSpPr/>
          <p:nvPr/>
        </p:nvSpPr>
        <p:spPr>
          <a:xfrm>
            <a:off x="7193280" y="2926080"/>
            <a:ext cx="3901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 של היתרון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 of this feature and its value proposition.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34B2812-9086-F18C-9FB5-852FE86853B4}"/>
              </a:ext>
            </a:extLst>
          </p:cNvPr>
          <p:cNvSpPr/>
          <p:nvPr/>
        </p:nvSpPr>
        <p:spPr>
          <a:xfrm>
            <a:off x="853440" y="4693920"/>
            <a:ext cx="548640" cy="54864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0297EB8-2CC1-1CB9-A594-B6FEF8ED97A9}"/>
              </a:ext>
            </a:extLst>
          </p:cNvPr>
          <p:cNvSpPr/>
          <p:nvPr/>
        </p:nvSpPr>
        <p:spPr>
          <a:xfrm>
            <a:off x="853440" y="4693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734B4AA-C57C-76F4-C84E-DF42DE7DA9D1}"/>
              </a:ext>
            </a:extLst>
          </p:cNvPr>
          <p:cNvSpPr/>
          <p:nvPr/>
        </p:nvSpPr>
        <p:spPr>
          <a:xfrm>
            <a:off x="1584960" y="457200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יתרון שלישי</a:t>
            </a:r>
          </a:p>
          <a:p>
            <a:pPr algn="l"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Feature Title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4B0D0D1-1006-823C-BDCD-A4DB851651BD}"/>
              </a:ext>
            </a:extLst>
          </p:cNvPr>
          <p:cNvSpPr/>
          <p:nvPr/>
        </p:nvSpPr>
        <p:spPr>
          <a:xfrm>
            <a:off x="1584960" y="5120640"/>
            <a:ext cx="3901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 של היתרון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 of this feature and its value proposition.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8886076-501D-A3A3-F055-9B20B9830B6A}"/>
              </a:ext>
            </a:extLst>
          </p:cNvPr>
          <p:cNvSpPr/>
          <p:nvPr/>
        </p:nvSpPr>
        <p:spPr>
          <a:xfrm>
            <a:off x="6461760" y="4693920"/>
            <a:ext cx="548640" cy="54864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59994BB-4453-5434-18E6-345615D962A1}"/>
              </a:ext>
            </a:extLst>
          </p:cNvPr>
          <p:cNvSpPr/>
          <p:nvPr/>
        </p:nvSpPr>
        <p:spPr>
          <a:xfrm>
            <a:off x="6461760" y="4693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21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6C55071-161F-D6C4-7627-5973D69B90D0}"/>
              </a:ext>
            </a:extLst>
          </p:cNvPr>
          <p:cNvSpPr/>
          <p:nvPr/>
        </p:nvSpPr>
        <p:spPr>
          <a:xfrm>
            <a:off x="7193280" y="4572000"/>
            <a:ext cx="39014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יתרון רביעי</a:t>
            </a:r>
          </a:p>
          <a:p>
            <a:pPr algn="l"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Feature Title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40E26A2-FB8B-829C-BDF2-301D6EFAF24F}"/>
              </a:ext>
            </a:extLst>
          </p:cNvPr>
          <p:cNvSpPr/>
          <p:nvPr/>
        </p:nvSpPr>
        <p:spPr>
          <a:xfrm>
            <a:off x="7193280" y="5120640"/>
            <a:ext cx="390144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 של היתרון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 of this feature and its value proposition.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EF57964-BB77-A92D-6F15-F44B2B583AE7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3627559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921D26-B6B8-9D1B-7BE5-6D092347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4CCDB9B-A500-FD95-27DA-F9C8B1AC6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05501C0-3B5E-538D-05E7-A39EC41AAB78}"/>
              </a:ext>
            </a:extLst>
          </p:cNvPr>
          <p:cNvSpPr/>
          <p:nvPr/>
        </p:nvSpPr>
        <p:spPr>
          <a:xfrm>
            <a:off x="609600" y="1828800"/>
            <a:ext cx="341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rtl="1">
              <a:spcAft>
                <a:spcPts val="400"/>
              </a:spcAft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כותרת עמודה</a:t>
            </a:r>
          </a:p>
          <a:p>
            <a:pPr algn="l">
              <a:buNone/>
            </a:pPr>
            <a:r>
              <a:rPr lang="en-US" sz="1800" b="1" dirty="0">
                <a:solidFill>
                  <a:srgbClr val="1A2744"/>
                </a:solidFill>
                <a:latin typeface="Montserrat"/>
                <a:cs typeface="Montserrat"/>
              </a:rPr>
              <a:t>Column Title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0370661-EF08-5806-06B3-AE342DABE05F}"/>
              </a:ext>
            </a:extLst>
          </p:cNvPr>
          <p:cNvSpPr/>
          <p:nvPr/>
        </p:nvSpPr>
        <p:spPr>
          <a:xfrm>
            <a:off x="1584960" y="4145280"/>
            <a:ext cx="146304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0FC8F4B-F4A2-9BE4-307F-2DB36CD5EF56}"/>
              </a:ext>
            </a:extLst>
          </p:cNvPr>
          <p:cNvSpPr/>
          <p:nvPr/>
        </p:nvSpPr>
        <p:spPr>
          <a:xfrm>
            <a:off x="609600" y="438912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Description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E74AE0A-3ED3-B119-8A45-0C4F0E72ABFF}"/>
              </a:ext>
            </a:extLst>
          </p:cNvPr>
          <p:cNvSpPr/>
          <p:nvPr/>
        </p:nvSpPr>
        <p:spPr>
          <a:xfrm>
            <a:off x="4511040" y="1828800"/>
            <a:ext cx="341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rtl="1">
              <a:spcAft>
                <a:spcPts val="400"/>
              </a:spcAft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כותרת עמודה</a:t>
            </a:r>
          </a:p>
          <a:p>
            <a:pPr algn="l">
              <a:buNone/>
            </a:pPr>
            <a:r>
              <a:rPr lang="en-US" sz="1800" b="1" dirty="0">
                <a:solidFill>
                  <a:srgbClr val="1A2744"/>
                </a:solidFill>
                <a:latin typeface="Montserrat"/>
                <a:cs typeface="Montserrat"/>
              </a:rPr>
              <a:t>Column Title</a:t>
            </a: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A2EB0D09-1564-5CF1-02D7-02EC43DBFDF0}"/>
              </a:ext>
            </a:extLst>
          </p:cNvPr>
          <p:cNvSpPr/>
          <p:nvPr/>
        </p:nvSpPr>
        <p:spPr>
          <a:xfrm>
            <a:off x="5486400" y="4145280"/>
            <a:ext cx="146304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8206ABF-F680-900A-B384-F4FEB0FA5842}"/>
              </a:ext>
            </a:extLst>
          </p:cNvPr>
          <p:cNvSpPr/>
          <p:nvPr/>
        </p:nvSpPr>
        <p:spPr>
          <a:xfrm>
            <a:off x="4511040" y="438912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Description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1B9865E-531E-A04B-A895-83D912EFD29F}"/>
              </a:ext>
            </a:extLst>
          </p:cNvPr>
          <p:cNvSpPr/>
          <p:nvPr/>
        </p:nvSpPr>
        <p:spPr>
          <a:xfrm>
            <a:off x="8412480" y="1828800"/>
            <a:ext cx="341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rtl="1">
              <a:spcAft>
                <a:spcPts val="400"/>
              </a:spcAft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כותרת עמודה</a:t>
            </a:r>
          </a:p>
          <a:p>
            <a:pPr algn="l">
              <a:buNone/>
            </a:pPr>
            <a:r>
              <a:rPr lang="en-US" sz="1800" b="1" dirty="0">
                <a:solidFill>
                  <a:srgbClr val="1A2744"/>
                </a:solidFill>
                <a:latin typeface="Montserrat"/>
                <a:cs typeface="Montserrat"/>
              </a:rPr>
              <a:t>Column Title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96A6298-16F4-C4AC-7A30-D1D11B5F9171}"/>
              </a:ext>
            </a:extLst>
          </p:cNvPr>
          <p:cNvSpPr/>
          <p:nvPr/>
        </p:nvSpPr>
        <p:spPr>
          <a:xfrm>
            <a:off x="9387840" y="4145280"/>
            <a:ext cx="146304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D129943-521C-0046-9B8F-102420AB9BF7}"/>
              </a:ext>
            </a:extLst>
          </p:cNvPr>
          <p:cNvSpPr/>
          <p:nvPr/>
        </p:nvSpPr>
        <p:spPr>
          <a:xfrm>
            <a:off x="8412480" y="4389120"/>
            <a:ext cx="3413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Description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529E96C8-BD28-A6D0-24E7-E9159223397F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81082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1692C-9451-8B3E-A8C6-D0B32372F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2CA1DE2-9643-7A7B-61D2-2A7C7A1A3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B0BFB63-C3AF-6AFD-3DD4-F0D60498DD48}"/>
              </a:ext>
            </a:extLst>
          </p:cNvPr>
          <p:cNvSpPr/>
          <p:nvPr/>
        </p:nvSpPr>
        <p:spPr>
          <a:xfrm>
            <a:off x="609600" y="121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400" b="1" dirty="0">
                <a:solidFill>
                  <a:srgbClr val="E10514"/>
                </a:solidFill>
                <a:latin typeface="Rubik"/>
                <a:cs typeface="Rubik"/>
              </a:rPr>
              <a:t>סקירה השוואתית</a:t>
            </a:r>
          </a:p>
          <a:p>
            <a:pPr algn="l">
              <a:buNone/>
            </a:pPr>
            <a:r>
              <a:rPr lang="en-US" sz="3200" b="1" dirty="0">
                <a:solidFill>
                  <a:srgbClr val="E10514"/>
                </a:solidFill>
                <a:latin typeface="Montserrat"/>
                <a:cs typeface="Montserrat"/>
              </a:rPr>
              <a:t>Comparison Overview</a:t>
            </a:r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A829415E-70B6-B6AC-2832-FBE8EEACA325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2194560"/>
          <a:ext cx="10972800" cy="274320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Feature</a:t>
                      </a:r>
                      <a:endParaRPr lang="en-US" sz="16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Basic Plan</a:t>
                      </a:r>
                      <a:endParaRPr lang="en-US" sz="16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Premium Plan</a:t>
                      </a:r>
                      <a:endParaRPr lang="en-US" sz="16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6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05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Coverage Area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Regional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Global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Global+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Claims Processing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 days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 hours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Instant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Support Level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Email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24/7 Phone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Dedicated Rep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Annual Cost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$1,200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$3,600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>
            <a:extLst>
              <a:ext uri="{FF2B5EF4-FFF2-40B4-BE49-F238E27FC236}">
                <a16:creationId xmlns:a16="http://schemas.microsoft.com/office/drawing/2014/main" id="{9462DCFE-873D-3EFA-9A63-73A854122540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2876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23BF1-06F5-442E-853E-3AF99A2F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B0730F7-ACCB-0A45-8F93-3066F5588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" y="304800"/>
            <a:ext cx="1463040" cy="85344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2A27F274-C124-2BA7-B9AC-958202817310}"/>
              </a:ext>
            </a:extLst>
          </p:cNvPr>
          <p:cNvSpPr/>
          <p:nvPr/>
        </p:nvSpPr>
        <p:spPr>
          <a:xfrm>
            <a:off x="609600" y="121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400" b="1" dirty="0">
                <a:solidFill>
                  <a:srgbClr val="E10514"/>
                </a:solidFill>
                <a:latin typeface="Rubik"/>
                <a:cs typeface="Rubik"/>
              </a:rPr>
              <a:t>נתונים ומדדים</a:t>
            </a:r>
          </a:p>
          <a:p>
            <a:pPr algn="l">
              <a:buNone/>
            </a:pPr>
            <a:r>
              <a:rPr lang="en-US" sz="3600" b="1" dirty="0">
                <a:solidFill>
                  <a:srgbClr val="E10514"/>
                </a:solidFill>
                <a:latin typeface="Montserrat"/>
                <a:cs typeface="Montserrat"/>
              </a:rPr>
              <a:t>Stats &amp; Metrics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5B8F9D27-C907-14CA-F833-41A422B609AC}"/>
              </a:ext>
            </a:extLst>
          </p:cNvPr>
          <p:cNvSpPr/>
          <p:nvPr/>
        </p:nvSpPr>
        <p:spPr>
          <a:xfrm>
            <a:off x="1402080" y="3108960"/>
            <a:ext cx="219456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8376156-4D46-9AF7-1745-5C0C74BD196E}"/>
              </a:ext>
            </a:extLst>
          </p:cNvPr>
          <p:cNvSpPr/>
          <p:nvPr/>
        </p:nvSpPr>
        <p:spPr>
          <a:xfrm>
            <a:off x="975360" y="2804160"/>
            <a:ext cx="670560" cy="67056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B959E6-50FE-D3EF-2C67-680E57BA5DFB}"/>
              </a:ext>
            </a:extLst>
          </p:cNvPr>
          <p:cNvSpPr/>
          <p:nvPr/>
        </p:nvSpPr>
        <p:spPr>
          <a:xfrm>
            <a:off x="975360" y="280416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1B2B844-3E32-FDC0-41E7-8E84EB454D26}"/>
              </a:ext>
            </a:extLst>
          </p:cNvPr>
          <p:cNvSpPr/>
          <p:nvPr/>
        </p:nvSpPr>
        <p:spPr>
          <a:xfrm>
            <a:off x="365760" y="3657600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תווית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Label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54EABFC-120A-B278-81F8-7EE07F0EEA21}"/>
              </a:ext>
            </a:extLst>
          </p:cNvPr>
          <p:cNvSpPr/>
          <p:nvPr/>
        </p:nvSpPr>
        <p:spPr>
          <a:xfrm>
            <a:off x="365760" y="4145280"/>
            <a:ext cx="188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Research and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ECBA51A-D870-5389-DC56-DD5405EDF573}"/>
              </a:ext>
            </a:extLst>
          </p:cNvPr>
          <p:cNvSpPr/>
          <p:nvPr/>
        </p:nvSpPr>
        <p:spPr>
          <a:xfrm>
            <a:off x="4206240" y="3108960"/>
            <a:ext cx="219456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0ED214D-E0FA-C061-B431-3820262E10C7}"/>
              </a:ext>
            </a:extLst>
          </p:cNvPr>
          <p:cNvSpPr/>
          <p:nvPr/>
        </p:nvSpPr>
        <p:spPr>
          <a:xfrm>
            <a:off x="3779520" y="2804160"/>
            <a:ext cx="670560" cy="67056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36D7D1D-8A97-8B40-038C-06FB1CE7B91B}"/>
              </a:ext>
            </a:extLst>
          </p:cNvPr>
          <p:cNvSpPr/>
          <p:nvPr/>
        </p:nvSpPr>
        <p:spPr>
          <a:xfrm>
            <a:off x="3779520" y="280416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0511080-426A-5933-0211-FB1C51AC5858}"/>
              </a:ext>
            </a:extLst>
          </p:cNvPr>
          <p:cNvSpPr/>
          <p:nvPr/>
        </p:nvSpPr>
        <p:spPr>
          <a:xfrm>
            <a:off x="3169920" y="3657600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תווית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Label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AC80EE-CA31-27E0-A20C-CE36509C6651}"/>
              </a:ext>
            </a:extLst>
          </p:cNvPr>
          <p:cNvSpPr/>
          <p:nvPr/>
        </p:nvSpPr>
        <p:spPr>
          <a:xfrm>
            <a:off x="3169920" y="4145280"/>
            <a:ext cx="188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Wireframes and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prototypes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1A616EAE-7671-638B-58B1-4DE4FDF483F5}"/>
              </a:ext>
            </a:extLst>
          </p:cNvPr>
          <p:cNvSpPr/>
          <p:nvPr/>
        </p:nvSpPr>
        <p:spPr>
          <a:xfrm>
            <a:off x="7010400" y="3108960"/>
            <a:ext cx="2194560" cy="0"/>
          </a:xfrm>
          <a:prstGeom prst="line">
            <a:avLst/>
          </a:prstGeom>
          <a:noFill/>
          <a:ln w="25400">
            <a:solidFill>
              <a:srgbClr val="FEBCBD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39044938-B0B3-5EB4-E171-1C38B67AA484}"/>
              </a:ext>
            </a:extLst>
          </p:cNvPr>
          <p:cNvSpPr/>
          <p:nvPr/>
        </p:nvSpPr>
        <p:spPr>
          <a:xfrm>
            <a:off x="6583680" y="2804160"/>
            <a:ext cx="670560" cy="67056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5B47B88-7E59-701B-7EAF-9A8A35A2591E}"/>
              </a:ext>
            </a:extLst>
          </p:cNvPr>
          <p:cNvSpPr/>
          <p:nvPr/>
        </p:nvSpPr>
        <p:spPr>
          <a:xfrm>
            <a:off x="6583680" y="280416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C8DF5C3-5E53-A7A1-30B1-59E87C07D7DA}"/>
              </a:ext>
            </a:extLst>
          </p:cNvPr>
          <p:cNvSpPr/>
          <p:nvPr/>
        </p:nvSpPr>
        <p:spPr>
          <a:xfrm>
            <a:off x="5974080" y="3657600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תווית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Label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3DA4F6E-74EF-A7A3-4E1C-30F1AC9301E3}"/>
              </a:ext>
            </a:extLst>
          </p:cNvPr>
          <p:cNvSpPr/>
          <p:nvPr/>
        </p:nvSpPr>
        <p:spPr>
          <a:xfrm>
            <a:off x="5974080" y="4145280"/>
            <a:ext cx="188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Development and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testing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1466D9AC-D529-DAA3-7F30-C382C626686D}"/>
              </a:ext>
            </a:extLst>
          </p:cNvPr>
          <p:cNvSpPr/>
          <p:nvPr/>
        </p:nvSpPr>
        <p:spPr>
          <a:xfrm>
            <a:off x="9387840" y="2804160"/>
            <a:ext cx="670560" cy="670560"/>
          </a:xfrm>
          <a:prstGeom prst="ellipse">
            <a:avLst/>
          </a:prstGeom>
          <a:solidFill>
            <a:srgbClr val="E10514"/>
          </a:solidFill>
          <a:ln/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E65D564-B697-7DC7-07D4-35AFD737E938}"/>
              </a:ext>
            </a:extLst>
          </p:cNvPr>
          <p:cNvSpPr/>
          <p:nvPr/>
        </p:nvSpPr>
        <p:spPr>
          <a:xfrm>
            <a:off x="9387840" y="280416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E5F187E-3166-6480-7BCA-4744F4C9EBBE}"/>
              </a:ext>
            </a:extLst>
          </p:cNvPr>
          <p:cNvSpPr/>
          <p:nvPr/>
        </p:nvSpPr>
        <p:spPr>
          <a:xfrm>
            <a:off x="8778240" y="3657600"/>
            <a:ext cx="1889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תווית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Label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74AA1FF-2777-BEA2-3B5D-787A26FDED8F}"/>
              </a:ext>
            </a:extLst>
          </p:cNvPr>
          <p:cNvSpPr/>
          <p:nvPr/>
        </p:nvSpPr>
        <p:spPr>
          <a:xfrm>
            <a:off x="8778240" y="4145280"/>
            <a:ext cx="1889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 and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</a:t>
            </a:r>
            <a:endParaRPr kumimoji="0" lang="en-US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3F49F29D-7E8A-C83D-F2D9-C78A0E294A6C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>
              <a:buNone/>
            </a:pPr>
            <a:r>
              <a:rPr lang="en-US" sz="900" dirty="0">
                <a:solidFill>
                  <a:srgbClr val="64748B"/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77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05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2D408-7E79-9E0B-7740-85BC938D0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048D2B-4176-94C9-79CA-9D7B0991339D}"/>
              </a:ext>
            </a:extLst>
          </p:cNvPr>
          <p:cNvSpPr/>
          <p:nvPr/>
        </p:nvSpPr>
        <p:spPr>
          <a:xfrm>
            <a:off x="609600" y="609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alpha val="60000"/>
                  </a:srgbClr>
                </a:solidFill>
                <a:effectLst/>
                <a:uLnTx/>
                <a:uFillTx/>
                <a:latin typeface="Rubik" pitchFamily="34" charset="0"/>
                <a:ea typeface="Rubik" pitchFamily="34" charset="-122"/>
                <a:cs typeface="Rubik" pitchFamily="34" charset="-120"/>
              </a:rPr>
              <a:t>“</a:t>
            </a:r>
            <a:endParaRPr kumimoji="0" lang="en-US" sz="1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A0E86B-0B20-AB7E-4DC3-631CF96C495E}"/>
              </a:ext>
            </a:extLst>
          </p:cNvPr>
          <p:cNvSpPr/>
          <p:nvPr/>
        </p:nvSpPr>
        <p:spPr>
          <a:xfrm>
            <a:off x="1219200" y="1828800"/>
            <a:ext cx="9753600" cy="2682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rtl="1">
              <a:spcAft>
                <a:spcPts val="800"/>
              </a:spcAft>
              <a:buNone/>
            </a:pPr>
            <a:r>
              <a:rPr lang="he-IL" sz="2400" i="1" dirty="0">
                <a:solidFill>
                  <a:srgbClr val="FFFFFF"/>
                </a:solidFill>
                <a:latin typeface="Rubik"/>
                <a:cs typeface="Rubik"/>
              </a:rPr>
              <a:t>ציטוט משמעותי או תובנה מרכזית שמסכמת את המסר העיקרי.</a:t>
            </a:r>
          </a:p>
          <a:p>
            <a:pPr algn="ctr">
              <a:buNone/>
            </a:pPr>
            <a:r>
              <a:rPr lang="en-US" sz="2400" i="1" dirty="0">
                <a:solidFill>
                  <a:srgbClr val="FFFFFF"/>
                </a:solidFill>
                <a:latin typeface="Montserrat"/>
                <a:cs typeface="Montserrat"/>
              </a:rPr>
              <a:t>A compelling quote or key insight that captures the essence of your message goes here.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732E9E-49C0-117A-18ED-7BD5666CC62E}"/>
              </a:ext>
            </a:extLst>
          </p:cNvPr>
          <p:cNvSpPr/>
          <p:nvPr/>
        </p:nvSpPr>
        <p:spPr>
          <a:xfrm>
            <a:off x="1219200" y="463296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E10514"/>
                </a:solidFill>
                <a:latin typeface="Montserrat"/>
                <a:cs typeface="Montserrat"/>
              </a:rPr>
              <a:t>— Speaker Name, Title  |  שם הדובר, תפקיד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07C1A44-565A-F6F2-A73E-A5C1E760ADC5}"/>
              </a:ext>
            </a:extLst>
          </p:cNvPr>
          <p:cNvSpPr/>
          <p:nvPr/>
        </p:nvSpPr>
        <p:spPr>
          <a:xfrm>
            <a:off x="4876800" y="4450080"/>
            <a:ext cx="243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950F593-091D-6269-0A32-0CD3FFE18A51}"/>
              </a:ext>
            </a:extLst>
          </p:cNvPr>
          <p:cNvSpPr/>
          <p:nvPr/>
        </p:nvSpPr>
        <p:spPr>
          <a:xfrm>
            <a:off x="609600" y="637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FFFFFF">
                    <a:alpha val="50000"/>
                  </a:srgbClr>
                </a:solidFill>
                <a:latin typeface="Montserrat"/>
                <a:cs typeface="Montserrat"/>
              </a:rPr>
              <a:t>PassportCard  |  Confidential</a:t>
            </a:r>
          </a:p>
        </p:txBody>
      </p:sp>
    </p:spTree>
    <p:extLst>
      <p:ext uri="{BB962C8B-B14F-4D97-AF65-F5344CB8AC3E}">
        <p14:creationId xmlns:p14="http://schemas.microsoft.com/office/powerpoint/2010/main" val="60743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>
              <a:lnSpc>
                <a:spcPts val="2400"/>
              </a:lnSpc>
            </a:pPr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תוכן עניינים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Agenda</a:t>
            </a:r>
          </a:p>
        </p:txBody>
      </p:sp>
      <p:sp>
        <p:nvSpPr>
          <p:cNvPr id="31" name="Agenda0"/>
          <p:cNvSpPr/>
          <p:nvPr/>
        </p:nvSpPr>
        <p:spPr>
          <a:xfrm>
            <a:off x="1500000" y="110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01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סקירת חברה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(Company Overview)</a:t>
            </a:r>
          </a:p>
        </p:txBody>
      </p:sp>
      <p:sp>
        <p:nvSpPr>
          <p:cNvPr id="32" name="Agenda1"/>
          <p:cNvSpPr/>
          <p:nvPr/>
        </p:nvSpPr>
        <p:spPr>
          <a:xfrm>
            <a:off x="1500000" y="182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02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תוצאות עיקריות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(Key Findings)</a:t>
            </a:r>
          </a:p>
        </p:txBody>
      </p:sp>
      <p:sp>
        <p:nvSpPr>
          <p:cNvPr id="33" name="Agenda2"/>
          <p:cNvSpPr/>
          <p:nvPr/>
        </p:nvSpPr>
        <p:spPr>
          <a:xfrm>
            <a:off x="1500000" y="254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03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ניתוח שוק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(Market Analysis)</a:t>
            </a:r>
          </a:p>
        </p:txBody>
      </p:sp>
      <p:sp>
        <p:nvSpPr>
          <p:cNvPr id="34" name="Agenda3"/>
          <p:cNvSpPr/>
          <p:nvPr/>
        </p:nvSpPr>
        <p:spPr>
          <a:xfrm>
            <a:off x="1500000" y="326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04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אסטרטגיה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(Strategy)</a:t>
            </a:r>
          </a:p>
        </p:txBody>
      </p:sp>
      <p:sp>
        <p:nvSpPr>
          <p:cNvPr id="35" name="Agenda4"/>
          <p:cNvSpPr/>
          <p:nvPr/>
        </p:nvSpPr>
        <p:spPr>
          <a:xfrm>
            <a:off x="1500000" y="398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05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מפת דרכים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(Roadmap)</a:t>
            </a:r>
          </a:p>
        </p:txBody>
      </p:sp>
      <p:sp>
        <p:nvSpPr>
          <p:cNvPr id="36" name="Agenda5"/>
          <p:cNvSpPr/>
          <p:nvPr/>
        </p:nvSpPr>
        <p:spPr>
          <a:xfrm>
            <a:off x="1500000" y="4700000"/>
            <a:ext cx="6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06  </a:t>
            </a: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סיכום</a:t>
            </a:r>
            <a:r>
              <a:rPr lang="en-US" sz="1400" dirty="0">
                <a:solidFill>
                  <a:srgbClr val="64748B"/>
                </a:solidFill>
                <a:latin typeface="Montserrat"/>
              </a:rPr>
              <a:t>  (Summary)</a:t>
            </a:r>
          </a:p>
        </p:txBody>
      </p:sp>
      <p:sp>
        <p:nvSpPr>
          <p:cNvPr id="40" name="CardRender"/>
          <p:cNvSpPr/>
          <p:nvPr/>
        </p:nvSpPr>
        <p:spPr>
          <a:xfrm>
            <a:off x="8500000" y="1800000"/>
            <a:ext cx="3200000" cy="3600000"/>
          </a:xfrm>
          <a:prstGeom prst="roundRect">
            <a:avLst>
              <a:gd name="adj" fmla="val 8000"/>
            </a:avLst>
          </a:prstGeom>
          <a:solidFill>
            <a:srgbClr val="E10514">
              <a:alpha val="12000"/>
            </a:srgbClr>
          </a:solidFill>
          <a:ln w="19050">
            <a:solidFill>
              <a:srgbClr val="E10514">
                <a:alpha val="30000"/>
              </a:srgbClr>
            </a:solidFill>
          </a:ln>
        </p:spPr>
        <p:txBody>
          <a:bodyPr wrap="square" anchor="ctr"/>
          <a:lstStyle/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[Card Product Image]</a:t>
            </a:r>
          </a:p>
        </p:txBody>
      </p:sp>
    </p:spTree>
    <p:extLst>
      <p:ext uri="{BB962C8B-B14F-4D97-AF65-F5344CB8AC3E}">
        <p14:creationId xmlns:p14="http://schemas.microsoft.com/office/powerpoint/2010/main" val="1700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3" name="Text 1"/>
          <p:cNvSpPr/>
          <p:nvPr/>
        </p:nvSpPr>
        <p:spPr>
          <a:xfrm>
            <a:off x="963168" y="121920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תקציר מנהלים</a:t>
            </a:r>
            <a:r>
              <a:rPr lang="en-US" sz="1600" dirty="0">
                <a:solidFill>
                  <a:srgbClr val="F5F0EB"/>
                </a:solidFill>
                <a:latin typeface="Montserrat"/>
                <a:cs typeface="Montserrat"/>
              </a:rPr>
              <a:t>   Executive Summary</a:t>
            </a:r>
          </a:p>
        </p:txBody>
      </p:sp>
      <p:sp>
        <p:nvSpPr>
          <p:cNvPr id="4" name="Text 2"/>
          <p:cNvSpPr/>
          <p:nvPr/>
        </p:nvSpPr>
        <p:spPr>
          <a:xfrm>
            <a:off x="963168" y="548640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600" dirty="0">
                <a:solidFill>
                  <a:srgbClr val="F5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3168" y="1463040"/>
            <a:ext cx="10265664" cy="128016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sz="2400"/>
          </a:p>
        </p:txBody>
      </p:sp>
      <p:sp>
        <p:nvSpPr>
          <p:cNvPr id="6" name="Shape 4"/>
          <p:cNvSpPr/>
          <p:nvPr/>
        </p:nvSpPr>
        <p:spPr>
          <a:xfrm>
            <a:off x="11155680" y="1463040"/>
            <a:ext cx="73152" cy="12801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7" name="Text 5"/>
          <p:cNvSpPr/>
          <p:nvPr/>
        </p:nvSpPr>
        <p:spPr>
          <a:xfrm>
            <a:off x="1328928" y="1645920"/>
            <a:ext cx="9412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PassportCard הגדילה את בסיס המבוטחים ב-35% בשנה האחרונה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8928" y="2133600"/>
            <a:ext cx="9412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</a:t>
            </a:r>
          </a:p>
        </p:txBody>
      </p:sp>
      <p:sp>
        <p:nvSpPr>
          <p:cNvPr id="9" name="Shape 7"/>
          <p:cNvSpPr/>
          <p:nvPr/>
        </p:nvSpPr>
        <p:spPr>
          <a:xfrm>
            <a:off x="963168" y="3048000"/>
            <a:ext cx="10265664" cy="128016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sz="2400"/>
          </a:p>
        </p:txBody>
      </p:sp>
      <p:sp>
        <p:nvSpPr>
          <p:cNvPr id="10" name="Shape 8"/>
          <p:cNvSpPr/>
          <p:nvPr/>
        </p:nvSpPr>
        <p:spPr>
          <a:xfrm>
            <a:off x="11155680" y="3048000"/>
            <a:ext cx="73152" cy="12801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1" name="Text 9"/>
          <p:cNvSpPr/>
          <p:nvPr/>
        </p:nvSpPr>
        <p:spPr>
          <a:xfrm>
            <a:off x="1328928" y="3230880"/>
            <a:ext cx="9412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הושקו שלושה מוצרים חדשים בשווקים אסטרטגיים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8928" y="3718560"/>
            <a:ext cx="9412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</a:t>
            </a:r>
          </a:p>
        </p:txBody>
      </p:sp>
      <p:sp>
        <p:nvSpPr>
          <p:cNvPr id="13" name="Shape 11"/>
          <p:cNvSpPr/>
          <p:nvPr/>
        </p:nvSpPr>
        <p:spPr>
          <a:xfrm>
            <a:off x="963168" y="4632960"/>
            <a:ext cx="10265664" cy="128016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sz="2400"/>
          </a:p>
        </p:txBody>
      </p:sp>
      <p:sp>
        <p:nvSpPr>
          <p:cNvPr id="14" name="Shape 12"/>
          <p:cNvSpPr/>
          <p:nvPr/>
        </p:nvSpPr>
        <p:spPr>
          <a:xfrm>
            <a:off x="11155680" y="4632960"/>
            <a:ext cx="73152" cy="12801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endParaRPr lang="en-IL" sz="2400"/>
          </a:p>
        </p:txBody>
      </p:sp>
      <p:sp>
        <p:nvSpPr>
          <p:cNvPr id="15" name="Text 13"/>
          <p:cNvSpPr/>
          <p:nvPr/>
        </p:nvSpPr>
        <p:spPr>
          <a:xfrm>
            <a:off x="1328928" y="4815840"/>
            <a:ext cx="941222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שביעות רצון הלקוחות עלתה ל-92% - הגבוהה בענף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8928" y="5303520"/>
            <a:ext cx="9412224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קצר</a:t>
            </a:r>
          </a:p>
          <a:p>
            <a:pPr algn="l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Brief description</a:t>
            </a:r>
          </a:p>
        </p:txBody>
      </p:sp>
    </p:spTree>
    <p:extLst>
      <p:ext uri="{BB962C8B-B14F-4D97-AF65-F5344CB8AC3E}">
        <p14:creationId xmlns:p14="http://schemas.microsoft.com/office/powerpoint/2010/main" val="3422608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HeaderBar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תקציר מנהלים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Executive Summary</a:t>
            </a:r>
          </a:p>
        </p:txBody>
      </p:sp>
      <p:sp>
        <p:nvSpPr>
          <p:cNvPr id="51" name="RedBorder0"/>
          <p:cNvSpPr/>
          <p:nvPr/>
        </p:nvSpPr>
        <p:spPr>
          <a:xfrm>
            <a:off x="756000" y="1100000"/>
            <a:ext cx="72000" cy="110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TakeawayBox0"/>
          <p:cNvSpPr/>
          <p:nvPr/>
        </p:nvSpPr>
        <p:spPr>
          <a:xfrm>
            <a:off x="950000" y="1100000"/>
            <a:ext cx="10400000" cy="1100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0" tIns="90000" rIns="180000" bIns="90000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צמיחה של 18% במספר המבוטחים בשנה האחרונה</a:t>
            </a:r>
          </a:p>
          <a:p>
            <a:pPr algn="r" rtl="0"/>
            <a:r>
              <a:rPr lang="en-US" sz="1400" dirty="0">
                <a:solidFill>
                  <a:srgbClr val="64748B"/>
                </a:solidFill>
                <a:latin typeface="Montserrat"/>
              </a:rPr>
              <a:t>18% growth in member count year-over-year</a:t>
            </a:r>
          </a:p>
        </p:txBody>
      </p:sp>
      <p:sp>
        <p:nvSpPr>
          <p:cNvPr id="53" name="RedBorder1"/>
          <p:cNvSpPr/>
          <p:nvPr/>
        </p:nvSpPr>
        <p:spPr>
          <a:xfrm>
            <a:off x="756000" y="2700000"/>
            <a:ext cx="72000" cy="110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TakeawayBox1"/>
          <p:cNvSpPr/>
          <p:nvPr/>
        </p:nvSpPr>
        <p:spPr>
          <a:xfrm>
            <a:off x="950000" y="2700000"/>
            <a:ext cx="10400000" cy="1100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0" tIns="90000" rIns="180000" bIns="90000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הרחבת פעילות ל-15 שווקים חדשים</a:t>
            </a:r>
          </a:p>
          <a:p>
            <a:pPr algn="r" rtl="0"/>
            <a:r>
              <a:rPr lang="en-US" sz="1400" dirty="0">
                <a:solidFill>
                  <a:srgbClr val="64748B"/>
                </a:solidFill>
                <a:latin typeface="Montserrat"/>
              </a:rPr>
              <a:t>Expanded operations to 15 new markets</a:t>
            </a:r>
          </a:p>
        </p:txBody>
      </p:sp>
      <p:sp>
        <p:nvSpPr>
          <p:cNvPr id="55" name="RedBorder2"/>
          <p:cNvSpPr/>
          <p:nvPr/>
        </p:nvSpPr>
        <p:spPr>
          <a:xfrm>
            <a:off x="756000" y="4300000"/>
            <a:ext cx="72000" cy="110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" name="TakeawayBox2"/>
          <p:cNvSpPr/>
          <p:nvPr/>
        </p:nvSpPr>
        <p:spPr>
          <a:xfrm>
            <a:off x="950000" y="4300000"/>
            <a:ext cx="10400000" cy="1100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0" tIns="90000" rIns="180000" bIns="90000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השקת פלטפורמת הדיגיטל מחדש</a:t>
            </a:r>
          </a:p>
          <a:p>
            <a:pPr algn="r" rtl="0"/>
            <a:r>
              <a:rPr lang="en-US" sz="1400" dirty="0">
                <a:solidFill>
                  <a:srgbClr val="64748B"/>
                </a:solidFill>
                <a:latin typeface="Montserrat"/>
              </a:rPr>
              <a:t>Launched new digital claims platform</a:t>
            </a:r>
          </a:p>
        </p:txBody>
      </p:sp>
    </p:spTree>
    <p:extLst>
      <p:ext uri="{BB962C8B-B14F-4D97-AF65-F5344CB8AC3E}">
        <p14:creationId xmlns:p14="http://schemas.microsoft.com/office/powerpoint/2010/main" val="22469140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609600"/>
            <a:ext cx="36576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6000" b="1" dirty="0">
                <a:solidFill>
                  <a:srgbClr val="E10514">
                    <a:alpha val="70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6000" dirty="0">
              <a:solidFill>
                <a:prstClr val="black"/>
              </a:solidFill>
              <a:latin typeface="Montserrat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3168" y="3413760"/>
            <a:ext cx="102656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400"/>
              </a:spcAft>
              <a:buNone/>
            </a:pPr>
            <a:r>
              <a:rPr lang="he-IL" sz="4800" b="1" dirty="0">
                <a:solidFill>
                  <a:srgbClr val="E10514"/>
                </a:solidFill>
                <a:latin typeface="Rubik"/>
                <a:cs typeface="Rubik"/>
              </a:rPr>
              <a:t>סקירת שוק</a:t>
            </a:r>
          </a:p>
          <a:p>
            <a:pPr algn="l">
              <a:buNone/>
            </a:pPr>
            <a:r>
              <a:rPr lang="en-US" sz="3600" b="1" dirty="0">
                <a:solidFill>
                  <a:srgbClr val="1A2744"/>
                </a:solidFill>
                <a:latin typeface="Montserrat"/>
                <a:cs typeface="Montserrat"/>
              </a:rPr>
              <a:t>Market Overview</a:t>
            </a:r>
          </a:p>
        </p:txBody>
      </p:sp>
      <p:sp>
        <p:nvSpPr>
          <p:cNvPr id="4" name="Text 2"/>
          <p:cNvSpPr/>
          <p:nvPr/>
        </p:nvSpPr>
        <p:spPr>
          <a:xfrm>
            <a:off x="963168" y="4511040"/>
            <a:ext cx="102656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1800" dirty="0">
                <a:solidFill>
                  <a:srgbClr val="333333"/>
                </a:solidFill>
                <a:latin typeface="Rubik"/>
                <a:cs typeface="Rubik"/>
              </a:rPr>
              <a:t>תיאור קצר והקשר</a:t>
            </a:r>
          </a:p>
          <a:p>
            <a:pPr algn="l">
              <a:buNone/>
            </a:pPr>
            <a:r>
              <a:rPr lang="en-US" sz="1800" dirty="0">
                <a:solidFill>
                  <a:srgbClr val="333333"/>
                </a:solidFill>
                <a:latin typeface="Montserrat"/>
                <a:cs typeface="Montserrat"/>
              </a:rPr>
              <a:t>Brief description and context</a:t>
            </a:r>
          </a:p>
        </p:txBody>
      </p:sp>
    </p:spTree>
    <p:extLst>
      <p:ext uri="{BB962C8B-B14F-4D97-AF65-F5344CB8AC3E}">
        <p14:creationId xmlns:p14="http://schemas.microsoft.com/office/powerpoint/2010/main" val="31036314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igNum"/>
          <p:cNvSpPr/>
          <p:nvPr/>
        </p:nvSpPr>
        <p:spPr>
          <a:xfrm>
            <a:off x="500000" y="800000"/>
            <a:ext cx="4500000" cy="50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/>
            <a:r>
              <a:rPr lang="en-US" sz="12000" b="1" dirty="0">
                <a:solidFill>
                  <a:srgbClr val="E10514">
                    <a:alpha val="70000"/>
                  </a:srgbClr>
                </a:solidFill>
                <a:latin typeface="Montserrat"/>
              </a:rPr>
              <a:t>01</a:t>
            </a:r>
          </a:p>
        </p:txBody>
      </p:sp>
      <p:sp>
        <p:nvSpPr>
          <p:cNvPr id="61" name="SectionHe"/>
          <p:cNvSpPr/>
          <p:nvPr/>
        </p:nvSpPr>
        <p:spPr>
          <a:xfrm>
            <a:off x="4800000" y="2400000"/>
            <a:ext cx="6800000" cy="10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b"/>
          <a:lstStyle/>
          <a:p>
            <a:pPr algn="r" rtl="1"/>
            <a:r>
              <a:rPr lang="he-IL" sz="3600" b="1" dirty="0">
                <a:solidFill>
                  <a:srgbClr val="FFFFFF"/>
                </a:solidFill>
                <a:latin typeface="Rubik"/>
                <a:cs typeface="Rubik"/>
              </a:rPr>
              <a:t>שם הפרק</a:t>
            </a:r>
          </a:p>
        </p:txBody>
      </p:sp>
      <p:sp>
        <p:nvSpPr>
          <p:cNvPr id="62" name="SectionEn"/>
          <p:cNvSpPr/>
          <p:nvPr/>
        </p:nvSpPr>
        <p:spPr>
          <a:xfrm>
            <a:off x="4800000" y="3500000"/>
            <a:ext cx="68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 rtl="1"/>
            <a:r>
              <a:rPr lang="en-US" sz="1800" dirty="0">
                <a:solidFill>
                  <a:srgbClr val="F5F0EB"/>
                </a:solidFill>
                <a:latin typeface="Montserrat"/>
              </a:rPr>
              <a:t>Section Name</a:t>
            </a:r>
          </a:p>
        </p:txBody>
      </p:sp>
      <p:sp>
        <p:nvSpPr>
          <p:cNvPr id="63" name="RedLineSec"/>
          <p:cNvSpPr/>
          <p:nvPr/>
        </p:nvSpPr>
        <p:spPr>
          <a:xfrm>
            <a:off x="4800000" y="4200000"/>
            <a:ext cx="2500000" cy="45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52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opAccent"/>
          <p:cNvSpPr/>
          <p:nvPr/>
        </p:nvSpPr>
        <p:spPr>
          <a:xfrm>
            <a:off x="756000" y="1800000"/>
            <a:ext cx="2200000" cy="54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KeyMsgHe"/>
          <p:cNvSpPr/>
          <p:nvPr/>
        </p:nvSpPr>
        <p:spPr>
          <a:xfrm>
            <a:off x="756000" y="2100000"/>
            <a:ext cx="1068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 rtl="1"/>
            <a:r>
              <a:rPr lang="he-IL" sz="2600" b="1" dirty="0">
                <a:solidFill>
                  <a:srgbClr val="FFFFFF"/>
                </a:solidFill>
                <a:latin typeface="Rubik"/>
                <a:cs typeface="Rubik"/>
              </a:rPr>
              <a:t>המסר המרכזי של המצגת נכתב כאן</a:t>
            </a:r>
          </a:p>
        </p:txBody>
      </p:sp>
      <p:sp>
        <p:nvSpPr>
          <p:cNvPr id="72" name="KeyMsgEn"/>
          <p:cNvSpPr/>
          <p:nvPr/>
        </p:nvSpPr>
        <p:spPr>
          <a:xfrm>
            <a:off x="756000" y="3500000"/>
            <a:ext cx="1068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/>
            <a:r>
              <a:rPr lang="en-US" sz="1600" dirty="0">
                <a:solidFill>
                  <a:srgbClr val="F5F0EB"/>
                </a:solidFill>
                <a:latin typeface="Montserrat"/>
                <a:cs typeface="Montserrat"/>
              </a:rPr>
              <a:t>The key takeaway of this presentation goes here. One clear, impactful statement that frames everything that follows.</a:t>
            </a:r>
          </a:p>
        </p:txBody>
      </p:sp>
      <p:sp>
        <p:nvSpPr>
          <p:cNvPr id="73" name="Label"/>
          <p:cNvSpPr/>
          <p:nvPr/>
        </p:nvSpPr>
        <p:spPr>
          <a:xfrm>
            <a:off x="756000" y="130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b"/>
          <a:lstStyle/>
          <a:p>
            <a:pPr algn="r" rtl="1"/>
            <a:r>
              <a:rPr lang="he-IL" sz="1400" dirty="0">
                <a:solidFill>
                  <a:srgbClr val="E10514"/>
                </a:solidFill>
                <a:latin typeface="Rubik"/>
                <a:cs typeface="Rubik"/>
              </a:rPr>
              <a:t>מסר מרכזי  |  Key Message</a:t>
            </a:r>
          </a:p>
        </p:txBody>
      </p:sp>
    </p:spTree>
    <p:extLst>
      <p:ext uri="{BB962C8B-B14F-4D97-AF65-F5344CB8AC3E}">
        <p14:creationId xmlns:p14="http://schemas.microsoft.com/office/powerpoint/2010/main" val="11967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itle7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שתי עמודות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Two Columns</a:t>
            </a:r>
          </a:p>
        </p:txBody>
      </p:sp>
      <p:sp>
        <p:nvSpPr>
          <p:cNvPr id="81" name="LeftCol"/>
          <p:cNvSpPr/>
          <p:nvPr/>
        </p:nvSpPr>
        <p:spPr>
          <a:xfrm>
            <a:off x="756000" y="1100000"/>
            <a:ext cx="5100000" cy="5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80000" rIns="180000" bIns="90000" rtlCol="1" anchor="t"/>
          <a:lstStyle/>
          <a:p>
            <a:pPr algn="r" rtl="1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כותרת עמודה ראשונה</a:t>
            </a:r>
          </a:p>
          <a:p>
            <a:pPr algn="r">
              <a:spcAft>
                <a:spcPts val="400"/>
              </a:spcAft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Column One Title</a:t>
            </a:r>
          </a:p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תוכן העמודה הראשונה נכתב כאן.</a:t>
            </a:r>
          </a:p>
          <a:p>
            <a:pPr algn="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Column one content goes here. Key points and supporting details.</a:t>
            </a:r>
          </a:p>
        </p:txBody>
      </p:sp>
      <p:sp>
        <p:nvSpPr>
          <p:cNvPr id="82" name="Divider"/>
          <p:cNvSpPr/>
          <p:nvPr/>
        </p:nvSpPr>
        <p:spPr>
          <a:xfrm>
            <a:off x="6040000" y="1300000"/>
            <a:ext cx="36000" cy="4700000"/>
          </a:xfrm>
          <a:prstGeom prst="rect">
            <a:avLst/>
          </a:prstGeom>
          <a:solidFill>
            <a:srgbClr val="1A2744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3" name="RightCol"/>
          <p:cNvSpPr/>
          <p:nvPr/>
        </p:nvSpPr>
        <p:spPr>
          <a:xfrm>
            <a:off x="6300000" y="1100000"/>
            <a:ext cx="5100000" cy="5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180000" tIns="180000" rIns="180000" bIns="90000" rtlCol="1" anchor="t"/>
          <a:lstStyle/>
          <a:p>
            <a:pPr algn="r" rtl="1">
              <a:buNone/>
            </a:pPr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כותרת עמודה שנייה</a:t>
            </a:r>
          </a:p>
          <a:p>
            <a:pPr algn="r">
              <a:spcAft>
                <a:spcPts val="400"/>
              </a:spcAft>
              <a:buNone/>
            </a:pPr>
            <a:r>
              <a:rPr lang="en-US" sz="1400" dirty="0">
                <a:solidFill>
                  <a:srgbClr val="E10514"/>
                </a:solidFill>
                <a:latin typeface="Montserrat"/>
                <a:cs typeface="Montserrat"/>
              </a:rPr>
              <a:t>Column Two Title</a:t>
            </a:r>
          </a:p>
          <a:p>
            <a:pPr algn="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תוכן העמודה השנייה נכתב כאן.</a:t>
            </a:r>
          </a:p>
          <a:p>
            <a:pPr algn="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Column two content goes here. Key points and supporting details.</a:t>
            </a:r>
          </a:p>
        </p:txBody>
      </p:sp>
    </p:spTree>
    <p:extLst>
      <p:ext uri="{BB962C8B-B14F-4D97-AF65-F5344CB8AC3E}">
        <p14:creationId xmlns:p14="http://schemas.microsoft.com/office/powerpoint/2010/main" val="3174837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itle8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שלוש עמודות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Three Columns</a:t>
            </a:r>
          </a:p>
        </p:txBody>
      </p:sp>
      <p:sp>
        <p:nvSpPr>
          <p:cNvPr id="91" name="Icon0"/>
          <p:cNvSpPr/>
          <p:nvPr/>
        </p:nvSpPr>
        <p:spPr>
          <a:xfrm>
            <a:off x="1956000" y="1200000"/>
            <a:ext cx="900000" cy="9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✈</a:t>
            </a:r>
          </a:p>
        </p:txBody>
      </p:sp>
      <p:sp>
        <p:nvSpPr>
          <p:cNvPr id="92" name="ColTitle0"/>
          <p:cNvSpPr/>
          <p:nvPr/>
        </p:nvSpPr>
        <p:spPr>
          <a:xfrm>
            <a:off x="756000" y="2300000"/>
            <a:ext cx="3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ביטוח נסיעות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Travel Insurance</a:t>
            </a:r>
          </a:p>
        </p:txBody>
      </p:sp>
      <p:sp>
        <p:nvSpPr>
          <p:cNvPr id="93" name="ColBody0"/>
          <p:cNvSpPr/>
          <p:nvPr/>
        </p:nvSpPr>
        <p:spPr>
          <a:xfrm>
            <a:off x="756000" y="3300000"/>
            <a:ext cx="3500000" cy="2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כיסוי מלא לנוסעים בכל רחבי העולם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Full coverage for travelers worldwide</a:t>
            </a:r>
          </a:p>
        </p:txBody>
      </p:sp>
      <p:sp>
        <p:nvSpPr>
          <p:cNvPr id="94" name="Icon1"/>
          <p:cNvSpPr/>
          <p:nvPr/>
        </p:nvSpPr>
        <p:spPr>
          <a:xfrm>
            <a:off x="5756000" y="1200000"/>
            <a:ext cx="900000" cy="9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♥</a:t>
            </a:r>
          </a:p>
        </p:txBody>
      </p:sp>
      <p:sp>
        <p:nvSpPr>
          <p:cNvPr id="95" name="ColTitle1"/>
          <p:cNvSpPr/>
          <p:nvPr/>
        </p:nvSpPr>
        <p:spPr>
          <a:xfrm>
            <a:off x="4556000" y="2300000"/>
            <a:ext cx="3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שירות רפואי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Medical Service</a:t>
            </a:r>
          </a:p>
        </p:txBody>
      </p:sp>
      <p:sp>
        <p:nvSpPr>
          <p:cNvPr id="96" name="ColBody1"/>
          <p:cNvSpPr/>
          <p:nvPr/>
        </p:nvSpPr>
        <p:spPr>
          <a:xfrm>
            <a:off x="4556000" y="3300000"/>
            <a:ext cx="3500000" cy="2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השירות והיתרונות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Description of the service and benefits</a:t>
            </a:r>
          </a:p>
        </p:txBody>
      </p:sp>
      <p:sp>
        <p:nvSpPr>
          <p:cNvPr id="97" name="Icon2"/>
          <p:cNvSpPr/>
          <p:nvPr/>
        </p:nvSpPr>
        <p:spPr>
          <a:xfrm>
            <a:off x="9556000" y="1200000"/>
            <a:ext cx="900000" cy="9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💳</a:t>
            </a:r>
          </a:p>
        </p:txBody>
      </p:sp>
      <p:sp>
        <p:nvSpPr>
          <p:cNvPr id="98" name="ColTitle2"/>
          <p:cNvSpPr/>
          <p:nvPr/>
        </p:nvSpPr>
        <p:spPr>
          <a:xfrm>
            <a:off x="8356000" y="2300000"/>
            <a:ext cx="35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כרטיס חכם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Smart Card</a:t>
            </a:r>
          </a:p>
        </p:txBody>
      </p:sp>
      <p:sp>
        <p:nvSpPr>
          <p:cNvPr id="99" name="ColBody2"/>
          <p:cNvSpPr/>
          <p:nvPr/>
        </p:nvSpPr>
        <p:spPr>
          <a:xfrm>
            <a:off x="8356000" y="3300000"/>
            <a:ext cx="3500000" cy="2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>
              <a:spcAft>
                <a:spcPts val="300"/>
              </a:spcAft>
              <a:buNone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תיאור השירות והיתרונות</a:t>
            </a:r>
          </a:p>
          <a:p>
            <a:pPr algn="ct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Description of the service and benefits</a:t>
            </a:r>
          </a:p>
        </p:txBody>
      </p:sp>
    </p:spTree>
    <p:extLst>
      <p:ext uri="{BB962C8B-B14F-4D97-AF65-F5344CB8AC3E}">
        <p14:creationId xmlns:p14="http://schemas.microsoft.com/office/powerpoint/2010/main" val="2600763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ImgLeft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A2744">
              <a:alpha val="15000"/>
            </a:srgbClr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dirty="0">
                <a:solidFill>
                  <a:srgbClr val="1A2744"/>
                </a:solidFill>
                <a:latin typeface="Montserrat"/>
              </a:rPr>
              <a:t>[Image: business-man-abroad.jpg]</a:t>
            </a:r>
          </a:p>
        </p:txBody>
      </p:sp>
      <p:sp>
        <p:nvSpPr>
          <p:cNvPr id="101" name="RightBg"/>
          <p:cNvSpPr/>
          <p:nvPr/>
        </p:nvSpPr>
        <p:spPr>
          <a:xfrm>
            <a:off x="5486400" y="0"/>
            <a:ext cx="6705600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RightText"/>
          <p:cNvSpPr/>
          <p:nvPr/>
        </p:nvSpPr>
        <p:spPr>
          <a:xfrm>
            <a:off x="5900000" y="1200000"/>
            <a:ext cx="5700000" cy="4800000"/>
          </a:xfrm>
          <a:prstGeom prst="rect">
            <a:avLst/>
          </a:prstGeom>
          <a:noFill/>
          <a:ln>
            <a:noFill/>
          </a:ln>
        </p:spPr>
        <p:txBody>
          <a:bodyPr wrap="square" lIns="144000" rIns="144000" rtlCol="1" anchor="t"/>
          <a:lstStyle/>
          <a:p>
            <a:pPr algn="r" rtl="1">
              <a:spcAft>
                <a:spcPts val="200"/>
              </a:spcAft>
              <a:buNone/>
            </a:pPr>
            <a:r>
              <a:rPr lang="he-IL" sz="2200" b="1" dirty="0">
                <a:solidFill>
                  <a:srgbClr val="1A2744"/>
                </a:solidFill>
                <a:latin typeface="Rubik"/>
                <a:cs typeface="Rubik"/>
              </a:rPr>
              <a:t>כותרת עמוד</a:t>
            </a:r>
          </a:p>
          <a:p>
            <a:pPr algn="r">
              <a:spcAft>
                <a:spcPts val="600"/>
              </a:spcAft>
              <a:buNone/>
            </a:pPr>
            <a:r>
              <a:rPr lang="en-US" sz="1600" dirty="0">
                <a:solidFill>
                  <a:srgbClr val="E10514"/>
                </a:solidFill>
                <a:latin typeface="Montserrat"/>
                <a:cs typeface="Montserrat"/>
              </a:rPr>
              <a:t>Section Title</a:t>
            </a:r>
          </a:p>
          <a:p>
            <a:pPr algn="r" rtl="1">
              <a:spcAft>
                <a:spcPts val="400"/>
              </a:spcAft>
              <a:buNone/>
            </a:pPr>
            <a:r>
              <a:rPr lang="he-IL" sz="1600" dirty="0">
                <a:solidFill>
                  <a:srgbClr val="333333"/>
                </a:solidFill>
                <a:latin typeface="Rubik"/>
                <a:cs typeface="Rubik"/>
              </a:rPr>
              <a:t>תוכן עיקרי נכתב כאן. נקודות מפתח ופרטים תומכים להצגה.</a:t>
            </a:r>
          </a:p>
          <a:p>
            <a:pPr algn="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Supporting English text and data points go here. Use this for bilingual detail.</a:t>
            </a:r>
          </a:p>
        </p:txBody>
      </p:sp>
      <p:sp>
        <p:nvSpPr>
          <p:cNvPr id="103" name="RedLine9"/>
          <p:cNvSpPr/>
          <p:nvPr/>
        </p:nvSpPr>
        <p:spPr>
          <a:xfrm>
            <a:off x="5900000" y="1000000"/>
            <a:ext cx="1800000" cy="45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13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LeftText"/>
          <p:cNvSpPr/>
          <p:nvPr/>
        </p:nvSpPr>
        <p:spPr>
          <a:xfrm>
            <a:off x="756000" y="1200000"/>
            <a:ext cx="5700000" cy="4800000"/>
          </a:xfrm>
          <a:prstGeom prst="rect">
            <a:avLst/>
          </a:prstGeom>
          <a:noFill/>
          <a:ln>
            <a:noFill/>
          </a:ln>
        </p:spPr>
        <p:txBody>
          <a:bodyPr wrap="square" lIns="144000" rIns="144000" rtlCol="1" anchor="t"/>
          <a:lstStyle/>
          <a:p>
            <a:pPr algn="r" rtl="1">
              <a:spcAft>
                <a:spcPts val="200"/>
              </a:spcAft>
              <a:buNone/>
            </a:pPr>
            <a:r>
              <a:rPr lang="he-IL" sz="2200" b="1" dirty="0">
                <a:solidFill>
                  <a:srgbClr val="1A2744"/>
                </a:solidFill>
                <a:latin typeface="Rubik"/>
                <a:cs typeface="Rubik"/>
              </a:rPr>
              <a:t>כותרת עמוד</a:t>
            </a:r>
          </a:p>
          <a:p>
            <a:pPr algn="r">
              <a:spcAft>
                <a:spcPts val="600"/>
              </a:spcAft>
              <a:buNone/>
            </a:pPr>
            <a:r>
              <a:rPr lang="en-US" sz="1600" dirty="0">
                <a:solidFill>
                  <a:srgbClr val="E10514"/>
                </a:solidFill>
                <a:latin typeface="Montserrat"/>
                <a:cs typeface="Montserrat"/>
              </a:rPr>
              <a:t>Section Title</a:t>
            </a:r>
          </a:p>
          <a:p>
            <a:pPr algn="r" rtl="1">
              <a:spcAft>
                <a:spcPts val="400"/>
              </a:spcAft>
              <a:buNone/>
            </a:pPr>
            <a:r>
              <a:rPr lang="he-IL" sz="1600" dirty="0">
                <a:solidFill>
                  <a:srgbClr val="333333"/>
                </a:solidFill>
                <a:latin typeface="Rubik"/>
                <a:cs typeface="Rubik"/>
              </a:rPr>
              <a:t>תוכן עיקרי נכתב כאן. נקודות מפתח ופרטים תומכים להצגה.</a:t>
            </a:r>
          </a:p>
          <a:p>
            <a:pPr algn="r">
              <a:buNone/>
            </a:pPr>
            <a:r>
              <a:rPr lang="en-US" sz="1400" dirty="0">
                <a:solidFill>
                  <a:srgbClr val="333333"/>
                </a:solidFill>
                <a:latin typeface="Montserrat"/>
                <a:cs typeface="Montserrat"/>
              </a:rPr>
              <a:t>Supporting English text and data points go here. Use this for bilingual detail.</a:t>
            </a:r>
          </a:p>
        </p:txBody>
      </p:sp>
      <p:sp>
        <p:nvSpPr>
          <p:cNvPr id="111" name="RedLine10"/>
          <p:cNvSpPr/>
          <p:nvPr/>
        </p:nvSpPr>
        <p:spPr>
          <a:xfrm>
            <a:off x="756000" y="1000000"/>
            <a:ext cx="1800000" cy="45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ImgRight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1A2744">
              <a:alpha val="15000"/>
            </a:srgbClr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400" dirty="0">
                <a:solidFill>
                  <a:srgbClr val="1A2744"/>
                </a:solidFill>
                <a:latin typeface="Montserrat"/>
              </a:rPr>
              <a:t>[Image: student-abroad.jpg]</a:t>
            </a:r>
          </a:p>
        </p:txBody>
      </p:sp>
    </p:spTree>
    <p:extLst>
      <p:ext uri="{BB962C8B-B14F-4D97-AF65-F5344CB8AC3E}">
        <p14:creationId xmlns:p14="http://schemas.microsoft.com/office/powerpoint/2010/main" val="2685428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ullImg"/>
          <p:cNvSpPr/>
          <p:nvPr/>
        </p:nvSpPr>
        <p:spPr>
          <a:xfrm>
            <a:off x="0" y="0"/>
            <a:ext cx="12192000" cy="5486400"/>
          </a:xfrm>
          <a:prstGeom prst="rect">
            <a:avLst/>
          </a:prstGeom>
          <a:solidFill>
            <a:srgbClr val="2D3F5E">
              <a:alpha val="20000"/>
            </a:srgbClr>
          </a:solidFill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1A2744"/>
                </a:solidFill>
                <a:latin typeface="Montserrat"/>
              </a:rPr>
              <a:t>[Full-bleed: woman-extreme-sports.jpg]</a:t>
            </a:r>
          </a:p>
        </p:txBody>
      </p:sp>
      <p:sp>
        <p:nvSpPr>
          <p:cNvPr id="121" name="BottomStrip"/>
          <p:cNvSpPr/>
          <p:nvPr/>
        </p:nvSpPr>
        <p:spPr>
          <a:xfrm>
            <a:off x="0" y="5486400"/>
            <a:ext cx="12192000" cy="13716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lIns="360000" rIns="360000" rtlCol="1" anchor="ctr"/>
          <a:lstStyle/>
          <a:p>
            <a:pPr algn="r" rtl="1">
              <a:spcAft>
                <a:spcPts val="200"/>
              </a:spcAft>
              <a:buNone/>
            </a:pPr>
            <a:r>
              <a:rPr lang="he-IL" sz="2200" b="1" dirty="0">
                <a:solidFill>
                  <a:srgbClr val="FFFFFF"/>
                </a:solidFill>
                <a:latin typeface="Rubik"/>
                <a:cs typeface="Rubik"/>
              </a:rPr>
              <a:t>כותרת תמונה</a:t>
            </a:r>
          </a:p>
          <a:p>
            <a:pPr algn="r">
              <a:buNone/>
            </a:pPr>
            <a:r>
              <a:rPr lang="en-US" sz="1400" dirty="0">
                <a:solidFill>
                  <a:srgbClr val="F5F0EB"/>
                </a:solidFill>
                <a:latin typeface="Montserrat"/>
                <a:cs typeface="Montserrat"/>
              </a:rPr>
              <a:t>Image caption text goes here - describe the visual context</a:t>
            </a:r>
          </a:p>
        </p:txBody>
      </p:sp>
    </p:spTree>
    <p:extLst>
      <p:ext uri="{BB962C8B-B14F-4D97-AF65-F5344CB8AC3E}">
        <p14:creationId xmlns:p14="http://schemas.microsoft.com/office/powerpoint/2010/main" val="31253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QuoteMark"/>
          <p:cNvSpPr/>
          <p:nvPr/>
        </p:nvSpPr>
        <p:spPr>
          <a:xfrm>
            <a:off x="756000" y="1200000"/>
            <a:ext cx="2000000" cy="1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rtl="1"/>
            <a:r>
              <a:rPr lang="en-US" sz="8000" b="1" dirty="0">
                <a:solidFill>
                  <a:srgbClr val="E10514">
                    <a:alpha val="60000"/>
                  </a:srgbClr>
                </a:solidFill>
                <a:latin typeface="Montserrat"/>
                <a:cs typeface="Montserrat"/>
              </a:rPr>
              <a:t>“</a:t>
            </a:r>
          </a:p>
        </p:txBody>
      </p:sp>
      <p:sp>
        <p:nvSpPr>
          <p:cNvPr id="131" name="QuoteHe"/>
          <p:cNvSpPr/>
          <p:nvPr/>
        </p:nvSpPr>
        <p:spPr>
          <a:xfrm>
            <a:off x="1500000" y="2400000"/>
            <a:ext cx="9200000" cy="15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200" dirty="0">
                <a:solidFill>
                  <a:srgbClr val="1A2744"/>
                </a:solidFill>
                <a:latin typeface="Rubik"/>
                <a:cs typeface="Rubik"/>
              </a:rPr>
              <a:t>הציטוט בעברית נכתב כאן. משפט מעורר השראה וחזון אסטרטגי.</a:t>
            </a:r>
          </a:p>
        </p:txBody>
      </p:sp>
      <p:sp>
        <p:nvSpPr>
          <p:cNvPr id="132" name="QuoteEn"/>
          <p:cNvSpPr/>
          <p:nvPr/>
        </p:nvSpPr>
        <p:spPr>
          <a:xfrm>
            <a:off x="1500000" y="4100000"/>
            <a:ext cx="92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/>
            <a:r>
              <a:rPr lang="en-US" sz="1400" i="1" dirty="0">
                <a:solidFill>
                  <a:srgbClr val="64748B"/>
                </a:solidFill>
                <a:latin typeface="Montserrat"/>
                <a:cs typeface="Montserrat"/>
              </a:rPr>
              <a:t>"The English translation of the quote goes here. An inspiring statement that supports the strategic narrative."</a:t>
            </a:r>
          </a:p>
        </p:txBody>
      </p:sp>
      <p:sp>
        <p:nvSpPr>
          <p:cNvPr id="133" name="Attribution"/>
          <p:cNvSpPr/>
          <p:nvPr/>
        </p:nvSpPr>
        <p:spPr>
          <a:xfrm>
            <a:off x="1500000" y="4900000"/>
            <a:ext cx="92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r" rtl="1"/>
            <a:r>
              <a:rPr lang="en-US" sz="1400" b="1" dirty="0">
                <a:solidFill>
                  <a:srgbClr val="E10514"/>
                </a:solidFill>
                <a:latin typeface="Montserrat"/>
              </a:rPr>
              <a:t>— Speaker Name, Title</a:t>
            </a:r>
          </a:p>
        </p:txBody>
      </p:sp>
    </p:spTree>
    <p:extLst>
      <p:ext uri="{BB962C8B-B14F-4D97-AF65-F5344CB8AC3E}">
        <p14:creationId xmlns:p14="http://schemas.microsoft.com/office/powerpoint/2010/main" val="288071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13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רשימה ממוספרת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Numbered List</a:t>
            </a:r>
          </a:p>
        </p:txBody>
      </p:sp>
      <p:sp>
        <p:nvSpPr>
          <p:cNvPr id="141" name="Num0"/>
          <p:cNvSpPr/>
          <p:nvPr/>
        </p:nvSpPr>
        <p:spPr>
          <a:xfrm>
            <a:off x="756000" y="1100000"/>
            <a:ext cx="1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E10514"/>
                </a:solidFill>
                <a:latin typeface="Montserrat"/>
              </a:rPr>
              <a:t>01</a:t>
            </a:r>
          </a:p>
        </p:txBody>
      </p:sp>
      <p:sp>
        <p:nvSpPr>
          <p:cNvPr id="142" name="Item0"/>
          <p:cNvSpPr/>
          <p:nvPr/>
        </p:nvSpPr>
        <p:spPr>
          <a:xfrm>
            <a:off x="2000000" y="11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הגדרת מסגרת אסטרטגיה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Define the strategic framework for growth</a:t>
            </a:r>
          </a:p>
        </p:txBody>
      </p:sp>
      <p:sp>
        <p:nvSpPr>
          <p:cNvPr id="143" name="Num1"/>
          <p:cNvSpPr/>
          <p:nvPr/>
        </p:nvSpPr>
        <p:spPr>
          <a:xfrm>
            <a:off x="756000" y="2350000"/>
            <a:ext cx="1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E10514"/>
                </a:solidFill>
                <a:latin typeface="Montserrat"/>
              </a:rPr>
              <a:t>02</a:t>
            </a:r>
          </a:p>
        </p:txBody>
      </p:sp>
      <p:sp>
        <p:nvSpPr>
          <p:cNvPr id="144" name="Item1"/>
          <p:cNvSpPr/>
          <p:nvPr/>
        </p:nvSpPr>
        <p:spPr>
          <a:xfrm>
            <a:off x="2000000" y="235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זיהוי שווקים חדשים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Identify new market opportunities</a:t>
            </a:r>
          </a:p>
        </p:txBody>
      </p:sp>
      <p:sp>
        <p:nvSpPr>
          <p:cNvPr id="145" name="Num2"/>
          <p:cNvSpPr/>
          <p:nvPr/>
        </p:nvSpPr>
        <p:spPr>
          <a:xfrm>
            <a:off x="756000" y="3600000"/>
            <a:ext cx="1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E10514"/>
                </a:solidFill>
                <a:latin typeface="Montserrat"/>
              </a:rPr>
              <a:t>03</a:t>
            </a:r>
          </a:p>
        </p:txBody>
      </p:sp>
      <p:sp>
        <p:nvSpPr>
          <p:cNvPr id="146" name="Item2"/>
          <p:cNvSpPr/>
          <p:nvPr/>
        </p:nvSpPr>
        <p:spPr>
          <a:xfrm>
            <a:off x="2000000" y="360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פיתוח מוצר דיגיטלי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Develop digital product capabilities</a:t>
            </a:r>
          </a:p>
        </p:txBody>
      </p:sp>
      <p:sp>
        <p:nvSpPr>
          <p:cNvPr id="147" name="Num3"/>
          <p:cNvSpPr/>
          <p:nvPr/>
        </p:nvSpPr>
        <p:spPr>
          <a:xfrm>
            <a:off x="756000" y="4850000"/>
            <a:ext cx="11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3600" b="1" dirty="0">
                <a:solidFill>
                  <a:srgbClr val="E10514"/>
                </a:solidFill>
                <a:latin typeface="Montserrat"/>
              </a:rPr>
              <a:t>04</a:t>
            </a:r>
          </a:p>
        </p:txBody>
      </p:sp>
      <p:sp>
        <p:nvSpPr>
          <p:cNvPr id="148" name="Item3"/>
          <p:cNvSpPr/>
          <p:nvPr/>
        </p:nvSpPr>
        <p:spPr>
          <a:xfrm>
            <a:off x="2000000" y="4850000"/>
            <a:ext cx="94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חיזוק שותפויות אסטרטגיות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Strengthen strategic partnerships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948970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487680"/>
            <a:ext cx="10265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עקרונות מנחים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975360"/>
            <a:ext cx="1026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Guiding Principles</a:t>
            </a:r>
          </a:p>
        </p:txBody>
      </p:sp>
      <p:sp>
        <p:nvSpPr>
          <p:cNvPr id="4" name="Text 2"/>
          <p:cNvSpPr/>
          <p:nvPr/>
        </p:nvSpPr>
        <p:spPr>
          <a:xfrm>
            <a:off x="9753600" y="1584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7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3168" y="1584960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לקוח במרכז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>
          <a:xfrm>
            <a:off x="963168" y="2011680"/>
            <a:ext cx="829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Customer-first approach in every decision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7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3168" y="2560320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חדשנות טכנולוגית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3168" y="2987040"/>
            <a:ext cx="829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Technology-driven innovation across all products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0" y="3535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7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63168" y="3535680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שקיפות מלאה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63168" y="3962400"/>
            <a:ext cx="829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transparency in pricing and coverage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0" y="4511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37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3168" y="4511040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גלובליות מקומית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3168" y="4937760"/>
            <a:ext cx="829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reach with local expertise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53600" y="5486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3733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37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63168" y="5486400"/>
            <a:ext cx="82905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מצוינות תפעולית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63168" y="5913120"/>
            <a:ext cx="829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Operational excellence at every touchpoint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17833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14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תכונות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Features</a:t>
            </a:r>
          </a:p>
        </p:txBody>
      </p:sp>
      <p:sp>
        <p:nvSpPr>
          <p:cNvPr id="151" name="GridIcon0"/>
          <p:cNvSpPr/>
          <p:nvPr/>
        </p:nvSpPr>
        <p:spPr>
          <a:xfrm>
            <a:off x="1856000" y="11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✈</a:t>
            </a:r>
          </a:p>
        </p:txBody>
      </p:sp>
      <p:sp>
        <p:nvSpPr>
          <p:cNvPr id="152" name="GridLabel0"/>
          <p:cNvSpPr/>
          <p:nvPr/>
        </p:nvSpPr>
        <p:spPr>
          <a:xfrm>
            <a:off x="756000" y="20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ביטוח נסיעות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Travel</a:t>
            </a:r>
          </a:p>
        </p:txBody>
      </p:sp>
      <p:sp>
        <p:nvSpPr>
          <p:cNvPr id="154" name="GridIcon1"/>
          <p:cNvSpPr/>
          <p:nvPr/>
        </p:nvSpPr>
        <p:spPr>
          <a:xfrm>
            <a:off x="5656000" y="11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■</a:t>
            </a:r>
          </a:p>
        </p:txBody>
      </p:sp>
      <p:sp>
        <p:nvSpPr>
          <p:cNvPr id="155" name="GridLabel1"/>
          <p:cNvSpPr/>
          <p:nvPr/>
        </p:nvSpPr>
        <p:spPr>
          <a:xfrm>
            <a:off x="4556000" y="20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כרטיס חכם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Smart Card</a:t>
            </a:r>
          </a:p>
        </p:txBody>
      </p:sp>
      <p:sp>
        <p:nvSpPr>
          <p:cNvPr id="157" name="GridIcon2"/>
          <p:cNvSpPr/>
          <p:nvPr/>
        </p:nvSpPr>
        <p:spPr>
          <a:xfrm>
            <a:off x="9456000" y="11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+</a:t>
            </a:r>
          </a:p>
        </p:txBody>
      </p:sp>
      <p:sp>
        <p:nvSpPr>
          <p:cNvPr id="158" name="GridLabel2"/>
          <p:cNvSpPr/>
          <p:nvPr/>
        </p:nvSpPr>
        <p:spPr>
          <a:xfrm>
            <a:off x="8356000" y="20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שירות רפואי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Medical</a:t>
            </a:r>
          </a:p>
        </p:txBody>
      </p:sp>
      <p:sp>
        <p:nvSpPr>
          <p:cNvPr id="160" name="GridIcon3"/>
          <p:cNvSpPr/>
          <p:nvPr/>
        </p:nvSpPr>
        <p:spPr>
          <a:xfrm>
            <a:off x="1856000" y="38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★</a:t>
            </a:r>
          </a:p>
        </p:txBody>
      </p:sp>
      <p:sp>
        <p:nvSpPr>
          <p:cNvPr id="161" name="GridLabel3"/>
          <p:cNvSpPr/>
          <p:nvPr/>
        </p:nvSpPr>
        <p:spPr>
          <a:xfrm>
            <a:off x="756000" y="47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פרסים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Awards</a:t>
            </a:r>
          </a:p>
        </p:txBody>
      </p:sp>
      <p:sp>
        <p:nvSpPr>
          <p:cNvPr id="163" name="GridIcon4"/>
          <p:cNvSpPr/>
          <p:nvPr/>
        </p:nvSpPr>
        <p:spPr>
          <a:xfrm>
            <a:off x="5656000" y="38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●</a:t>
            </a:r>
          </a:p>
        </p:txBody>
      </p:sp>
      <p:sp>
        <p:nvSpPr>
          <p:cNvPr id="164" name="GridLabel4"/>
          <p:cNvSpPr/>
          <p:nvPr/>
        </p:nvSpPr>
        <p:spPr>
          <a:xfrm>
            <a:off x="4556000" y="47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תמיכה גלובלית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Global Support</a:t>
            </a:r>
          </a:p>
        </p:txBody>
      </p:sp>
      <p:sp>
        <p:nvSpPr>
          <p:cNvPr id="166" name="GridIcon5"/>
          <p:cNvSpPr/>
          <p:nvPr/>
        </p:nvSpPr>
        <p:spPr>
          <a:xfrm>
            <a:off x="9456000" y="3800000"/>
            <a:ext cx="800000" cy="8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Montserrat"/>
              </a:rPr>
              <a:t>▶</a:t>
            </a:r>
          </a:p>
        </p:txBody>
      </p:sp>
      <p:sp>
        <p:nvSpPr>
          <p:cNvPr id="167" name="GridLabel5"/>
          <p:cNvSpPr/>
          <p:nvPr/>
        </p:nvSpPr>
        <p:spPr>
          <a:xfrm>
            <a:off x="8356000" y="4750000"/>
            <a:ext cx="3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דיגיטל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Digital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20372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15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תהליך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Process Flow</a:t>
            </a:r>
          </a:p>
        </p:txBody>
      </p:sp>
      <p:sp>
        <p:nvSpPr>
          <p:cNvPr id="171" name="Step0"/>
          <p:cNvSpPr/>
          <p:nvPr/>
        </p:nvSpPr>
        <p:spPr>
          <a:xfrm>
            <a:off x="1281000" y="2000000"/>
            <a:ext cx="1000000" cy="10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72" name="Arrow0"/>
          <p:cNvSpPr/>
          <p:nvPr/>
        </p:nvSpPr>
        <p:spPr>
          <a:xfrm>
            <a:off x="2331000" y="2400000"/>
            <a:ext cx="65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EBC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3" name="StepLabel0"/>
          <p:cNvSpPr/>
          <p:nvPr/>
        </p:nvSpPr>
        <p:spPr>
          <a:xfrm>
            <a:off x="756000" y="3200000"/>
            <a:ext cx="205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הרשמה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Register</a:t>
            </a:r>
          </a:p>
        </p:txBody>
      </p:sp>
      <p:sp>
        <p:nvSpPr>
          <p:cNvPr id="174" name="Step1"/>
          <p:cNvSpPr/>
          <p:nvPr/>
        </p:nvSpPr>
        <p:spPr>
          <a:xfrm>
            <a:off x="3531000" y="2000000"/>
            <a:ext cx="1000000" cy="10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75" name="Arrow1"/>
          <p:cNvSpPr/>
          <p:nvPr/>
        </p:nvSpPr>
        <p:spPr>
          <a:xfrm>
            <a:off x="4581000" y="2400000"/>
            <a:ext cx="65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EBC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6" name="StepLabel1"/>
          <p:cNvSpPr/>
          <p:nvPr/>
        </p:nvSpPr>
        <p:spPr>
          <a:xfrm>
            <a:off x="3006000" y="3200000"/>
            <a:ext cx="205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אישור תביעה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Claim</a:t>
            </a:r>
          </a:p>
        </p:txBody>
      </p:sp>
      <p:sp>
        <p:nvSpPr>
          <p:cNvPr id="177" name="Step2"/>
          <p:cNvSpPr/>
          <p:nvPr/>
        </p:nvSpPr>
        <p:spPr>
          <a:xfrm>
            <a:off x="5781000" y="2000000"/>
            <a:ext cx="1000000" cy="1000000"/>
          </a:xfrm>
          <a:prstGeom prst="ellipse">
            <a:avLst/>
          </a:prstGeom>
          <a:solidFill>
            <a:srgbClr val="E1051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8" name="Arrow2"/>
          <p:cNvSpPr/>
          <p:nvPr/>
        </p:nvSpPr>
        <p:spPr>
          <a:xfrm>
            <a:off x="6831000" y="2400000"/>
            <a:ext cx="65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EBC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9" name="StepLabel2"/>
          <p:cNvSpPr/>
          <p:nvPr/>
        </p:nvSpPr>
        <p:spPr>
          <a:xfrm>
            <a:off x="5256000" y="3200000"/>
            <a:ext cx="205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בדיקה</a:t>
            </a:r>
          </a:p>
          <a:p>
            <a:pPr algn="ctr"/>
            <a:r>
              <a:rPr lang="en-US" sz="1400" dirty="0">
                <a:solidFill>
                  <a:srgbClr val="E10514"/>
                </a:solidFill>
                <a:latin typeface="Montserrat"/>
              </a:rPr>
              <a:t>Review</a:t>
            </a:r>
          </a:p>
        </p:txBody>
      </p:sp>
      <p:sp>
        <p:nvSpPr>
          <p:cNvPr id="180" name="Step3"/>
          <p:cNvSpPr/>
          <p:nvPr/>
        </p:nvSpPr>
        <p:spPr>
          <a:xfrm>
            <a:off x="8031000" y="2000000"/>
            <a:ext cx="1000000" cy="10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81" name="Arrow3"/>
          <p:cNvSpPr/>
          <p:nvPr/>
        </p:nvSpPr>
        <p:spPr>
          <a:xfrm>
            <a:off x="9081000" y="2400000"/>
            <a:ext cx="650000" cy="20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EBCB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2" name="StepLabel3"/>
          <p:cNvSpPr/>
          <p:nvPr/>
        </p:nvSpPr>
        <p:spPr>
          <a:xfrm>
            <a:off x="7506000" y="3200000"/>
            <a:ext cx="205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אישור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Approve</a:t>
            </a:r>
          </a:p>
        </p:txBody>
      </p:sp>
      <p:sp>
        <p:nvSpPr>
          <p:cNvPr id="183" name="Step4"/>
          <p:cNvSpPr/>
          <p:nvPr/>
        </p:nvSpPr>
        <p:spPr>
          <a:xfrm>
            <a:off x="10281000" y="2000000"/>
            <a:ext cx="1000000" cy="100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24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185" name="StepLabel4"/>
          <p:cNvSpPr/>
          <p:nvPr/>
        </p:nvSpPr>
        <p:spPr>
          <a:xfrm>
            <a:off x="9756000" y="3200000"/>
            <a:ext cx="205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תשלום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Payment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09824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itle16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ציר זמן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Timeline</a:t>
            </a:r>
          </a:p>
        </p:txBody>
      </p:sp>
      <p:sp>
        <p:nvSpPr>
          <p:cNvPr id="191" name="TimeBar"/>
          <p:cNvSpPr/>
          <p:nvPr/>
        </p:nvSpPr>
        <p:spPr>
          <a:xfrm>
            <a:off x="756000" y="3300000"/>
            <a:ext cx="10680000" cy="6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2" name="Dot0"/>
          <p:cNvSpPr/>
          <p:nvPr/>
        </p:nvSpPr>
        <p:spPr>
          <a:xfrm>
            <a:off x="1656000" y="3250000"/>
            <a:ext cx="220000" cy="22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3" name="Date0"/>
          <p:cNvSpPr/>
          <p:nvPr/>
        </p:nvSpPr>
        <p:spPr>
          <a:xfrm>
            <a:off x="756000" y="24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Q1 2024</a:t>
            </a:r>
          </a:p>
        </p:txBody>
      </p:sp>
      <p:sp>
        <p:nvSpPr>
          <p:cNvPr id="194" name="MsLabel0"/>
          <p:cNvSpPr/>
          <p:nvPr/>
        </p:nvSpPr>
        <p:spPr>
          <a:xfrm>
            <a:off x="756000" y="3700000"/>
            <a:ext cx="21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400" dirty="0">
                <a:solidFill>
                  <a:srgbClr val="1A2744"/>
                </a:solidFill>
                <a:latin typeface="Rubik"/>
                <a:cs typeface="Rubik"/>
              </a:rPr>
              <a:t>השקת המוצר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Product Launch</a:t>
            </a:r>
          </a:p>
        </p:txBody>
      </p:sp>
      <p:sp>
        <p:nvSpPr>
          <p:cNvPr id="195" name="Dot1"/>
          <p:cNvSpPr/>
          <p:nvPr/>
        </p:nvSpPr>
        <p:spPr>
          <a:xfrm>
            <a:off x="4326000" y="3250000"/>
            <a:ext cx="220000" cy="22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6" name="Date1"/>
          <p:cNvSpPr/>
          <p:nvPr/>
        </p:nvSpPr>
        <p:spPr>
          <a:xfrm>
            <a:off x="3426000" y="24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Q2 2024</a:t>
            </a:r>
          </a:p>
        </p:txBody>
      </p:sp>
      <p:sp>
        <p:nvSpPr>
          <p:cNvPr id="197" name="MsLabel1"/>
          <p:cNvSpPr/>
          <p:nvPr/>
        </p:nvSpPr>
        <p:spPr>
          <a:xfrm>
            <a:off x="3426000" y="3700000"/>
            <a:ext cx="21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400" dirty="0">
                <a:solidFill>
                  <a:srgbClr val="1A2744"/>
                </a:solidFill>
                <a:latin typeface="Rubik"/>
                <a:cs typeface="Rubik"/>
              </a:rPr>
              <a:t>גיוס משקיעים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Fundraising</a:t>
            </a:r>
          </a:p>
        </p:txBody>
      </p:sp>
      <p:sp>
        <p:nvSpPr>
          <p:cNvPr id="198" name="Dot2"/>
          <p:cNvSpPr/>
          <p:nvPr/>
        </p:nvSpPr>
        <p:spPr>
          <a:xfrm>
            <a:off x="6996000" y="3210000"/>
            <a:ext cx="300000" cy="300000"/>
          </a:xfrm>
          <a:prstGeom prst="ellipse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9" name="Date2"/>
          <p:cNvSpPr/>
          <p:nvPr/>
        </p:nvSpPr>
        <p:spPr>
          <a:xfrm>
            <a:off x="6096000" y="24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400" b="1" dirty="0">
                <a:solidFill>
                  <a:srgbClr val="E10514"/>
                </a:solidFill>
                <a:latin typeface="Montserrat"/>
              </a:rPr>
              <a:t>Q3 2024</a:t>
            </a:r>
          </a:p>
        </p:txBody>
      </p:sp>
      <p:sp>
        <p:nvSpPr>
          <p:cNvPr id="200" name="MsLabel2"/>
          <p:cNvSpPr/>
          <p:nvPr/>
        </p:nvSpPr>
        <p:spPr>
          <a:xfrm>
            <a:off x="6096000" y="3700000"/>
            <a:ext cx="21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400" dirty="0">
                <a:solidFill>
                  <a:srgbClr val="1A2744"/>
                </a:solidFill>
                <a:latin typeface="Rubik"/>
                <a:cs typeface="Rubik"/>
              </a:rPr>
              <a:t>התרחבות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Expansion</a:t>
            </a:r>
          </a:p>
        </p:txBody>
      </p:sp>
      <p:sp>
        <p:nvSpPr>
          <p:cNvPr id="201" name="Dot3"/>
          <p:cNvSpPr/>
          <p:nvPr/>
        </p:nvSpPr>
        <p:spPr>
          <a:xfrm>
            <a:off x="9666000" y="3250000"/>
            <a:ext cx="220000" cy="22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Date3"/>
          <p:cNvSpPr/>
          <p:nvPr/>
        </p:nvSpPr>
        <p:spPr>
          <a:xfrm>
            <a:off x="8766000" y="24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Q4 2024</a:t>
            </a:r>
          </a:p>
        </p:txBody>
      </p:sp>
      <p:sp>
        <p:nvSpPr>
          <p:cNvPr id="203" name="MsLabel3"/>
          <p:cNvSpPr/>
          <p:nvPr/>
        </p:nvSpPr>
        <p:spPr>
          <a:xfrm>
            <a:off x="8766000" y="3700000"/>
            <a:ext cx="21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400" dirty="0">
                <a:solidFill>
                  <a:srgbClr val="1A2744"/>
                </a:solidFill>
                <a:latin typeface="Rubik"/>
                <a:cs typeface="Rubik"/>
              </a:rPr>
              <a:t>שלב 2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Phase 2</a:t>
            </a:r>
          </a:p>
        </p:txBody>
      </p:sp>
      <p:sp>
        <p:nvSpPr>
          <p:cNvPr id="204" name="Dot4"/>
          <p:cNvSpPr/>
          <p:nvPr/>
        </p:nvSpPr>
        <p:spPr>
          <a:xfrm>
            <a:off x="11959300" y="3250000"/>
            <a:ext cx="220000" cy="220000"/>
          </a:xfrm>
          <a:prstGeom prst="ellipse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5" name="Date4"/>
          <p:cNvSpPr/>
          <p:nvPr/>
        </p:nvSpPr>
        <p:spPr>
          <a:xfrm>
            <a:off x="10079300" y="2400000"/>
            <a:ext cx="21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Q1 2025</a:t>
            </a:r>
          </a:p>
        </p:txBody>
      </p:sp>
      <p:sp>
        <p:nvSpPr>
          <p:cNvPr id="206" name="MsLabel4"/>
          <p:cNvSpPr/>
          <p:nvPr/>
        </p:nvSpPr>
        <p:spPr>
          <a:xfrm>
            <a:off x="10079300" y="3700000"/>
            <a:ext cx="21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 rtl="1"/>
            <a:r>
              <a:rPr lang="he-IL" sz="1400" dirty="0">
                <a:solidFill>
                  <a:srgbClr val="1A2744"/>
                </a:solidFill>
                <a:latin typeface="Rubik"/>
                <a:cs typeface="Rubik"/>
              </a:rPr>
              <a:t>יעד שנתי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Annual Target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184245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טבלת השוואה תחרותית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792480"/>
            <a:ext cx="1026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Competitive Comparison Table</a:t>
            </a: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254000" y="1341120"/>
          <a:ext cx="11684000" cy="3474720"/>
        </p:xfrm>
        <a:graphic>
          <a:graphicData uri="http://schemas.openxmlformats.org/drawingml/2006/table">
            <a:tbl>
              <a:tblPr/>
              <a:tblGrid>
                <a:gridCol w="321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8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קריטריון </a:t>
                      </a: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Criteria</a:t>
                      </a:r>
                      <a:endParaRPr lang="he-IL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PassportCard</a:t>
                      </a:r>
                      <a:endParaRPr lang="en-US" sz="15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מתחרה א' </a:t>
                      </a: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Comp A</a:t>
                      </a:r>
                      <a:endParaRPr lang="he-IL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מתחרה ב' </a:t>
                      </a: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Comp B</a:t>
                      </a:r>
                      <a:endParaRPr lang="he-IL" sz="15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תשלום ישיר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Direct Pay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b="1" dirty="0">
                          <a:solidFill>
                            <a:srgbClr val="E1051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כיסוי גלובלי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Global Cover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מדינות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150+</a:t>
                      </a:r>
                      <a:endParaRPr lang="he-IL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מדינות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80</a:t>
                      </a:r>
                      <a:endParaRPr lang="he-IL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מדינות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60</a:t>
                      </a:r>
                      <a:endParaRPr lang="he-IL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אפליקציה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Mobile App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b="1" dirty="0">
                          <a:solidFill>
                            <a:srgbClr val="E1051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b="1" dirty="0">
                          <a:solidFill>
                            <a:srgbClr val="E1051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שירות 24/7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b="1" dirty="0">
                          <a:solidFill>
                            <a:srgbClr val="E1051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חלקי</a:t>
                      </a:r>
                      <a:endParaRPr lang="he-IL" sz="3200"/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כרטיס תשלום </a:t>
                      </a:r>
                      <a:r>
                        <a:rPr lang="en-US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 Card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 Mastercard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ביטוח ספורט אתגרי</a:t>
                      </a:r>
                      <a:endParaRPr lang="he-IL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b="1" dirty="0">
                          <a:solidFill>
                            <a:srgbClr val="E1051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✓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✗</a:t>
                      </a:r>
                      <a:endParaRPr lang="en-US" sz="14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he-IL" sz="14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תוספת</a:t>
                      </a:r>
                      <a:endParaRPr lang="he-IL" sz="3200"/>
                    </a:p>
                  </a:txBody>
                  <a:tcPr marL="67733" marR="67733" marT="48533" marB="48533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33970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itle18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מטריצה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2x2 Matrix</a:t>
            </a:r>
          </a:p>
        </p:txBody>
      </p:sp>
      <p:sp>
        <p:nvSpPr>
          <p:cNvPr id="221" name="YAxis"/>
          <p:cNvSpPr/>
          <p:nvPr/>
        </p:nvSpPr>
        <p:spPr>
          <a:xfrm>
            <a:off x="1400000" y="1200000"/>
            <a:ext cx="36000" cy="50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XAxis"/>
          <p:cNvSpPr/>
          <p:nvPr/>
        </p:nvSpPr>
        <p:spPr>
          <a:xfrm>
            <a:off x="1400000" y="3700000"/>
            <a:ext cx="10000000" cy="36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XLabel"/>
          <p:cNvSpPr/>
          <p:nvPr/>
        </p:nvSpPr>
        <p:spPr>
          <a:xfrm>
            <a:off x="5400000" y="620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Effort →</a:t>
            </a:r>
          </a:p>
        </p:txBody>
      </p:sp>
      <p:sp>
        <p:nvSpPr>
          <p:cNvPr id="224" name="YLabel"/>
          <p:cNvSpPr/>
          <p:nvPr/>
        </p:nvSpPr>
        <p:spPr>
          <a:xfrm rot="16200000">
            <a:off x="0" y="280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b="1" dirty="0">
                <a:solidFill>
                  <a:srgbClr val="1A2744"/>
                </a:solidFill>
                <a:latin typeface="Montserrat"/>
              </a:rPr>
              <a:t>Impact →</a:t>
            </a:r>
          </a:p>
        </p:txBody>
      </p:sp>
      <p:sp>
        <p:nvSpPr>
          <p:cNvPr id="225" name="Quad0"/>
          <p:cNvSpPr/>
          <p:nvPr/>
        </p:nvSpPr>
        <p:spPr>
          <a:xfrm>
            <a:off x="1500000" y="1200000"/>
            <a:ext cx="4800000" cy="2400000"/>
          </a:xfrm>
          <a:prstGeom prst="roundRect">
            <a:avLst>
              <a:gd name="adj" fmla="val 5000"/>
            </a:avLst>
          </a:prstGeom>
          <a:solidFill>
            <a:srgbClr val="1A2744">
              <a:alpha val="15000"/>
            </a:srgbClr>
          </a:solidFill>
          <a:ln>
            <a:noFill/>
          </a:ln>
        </p:spPr>
        <p:txBody>
          <a:bodyPr wrap="square" lIns="180000" rIns="180000" anchor="ctr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השפעה גבוהה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High Impact</a:t>
            </a:r>
          </a:p>
        </p:txBody>
      </p:sp>
      <p:sp>
        <p:nvSpPr>
          <p:cNvPr id="226" name="Quad1"/>
          <p:cNvSpPr/>
          <p:nvPr/>
        </p:nvSpPr>
        <p:spPr>
          <a:xfrm>
            <a:off x="6400000" y="1200000"/>
            <a:ext cx="4800000" cy="2400000"/>
          </a:xfrm>
          <a:prstGeom prst="roundRect">
            <a:avLst>
              <a:gd name="adj" fmla="val 5000"/>
            </a:avLst>
          </a:prstGeom>
          <a:solidFill>
            <a:srgbClr val="FEBCBD">
              <a:alpha val="40000"/>
            </a:srgbClr>
          </a:solidFill>
          <a:ln>
            <a:noFill/>
          </a:ln>
        </p:spPr>
        <p:txBody>
          <a:bodyPr wrap="square" lIns="180000" rIns="180000" anchor="ctr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השפעה נמוכה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Low Impact</a:t>
            </a:r>
          </a:p>
        </p:txBody>
      </p:sp>
      <p:sp>
        <p:nvSpPr>
          <p:cNvPr id="227" name="Quad2"/>
          <p:cNvSpPr/>
          <p:nvPr/>
        </p:nvSpPr>
        <p:spPr>
          <a:xfrm>
            <a:off x="1500000" y="3800000"/>
            <a:ext cx="4800000" cy="2400000"/>
          </a:xfrm>
          <a:prstGeom prst="roundRect">
            <a:avLst>
              <a:gd name="adj" fmla="val 5000"/>
            </a:avLst>
          </a:prstGeom>
          <a:solidFill>
            <a:srgbClr val="E10514">
              <a:alpha val="10000"/>
            </a:srgbClr>
          </a:solidFill>
          <a:ln>
            <a:noFill/>
          </a:ln>
        </p:spPr>
        <p:txBody>
          <a:bodyPr wrap="square" lIns="180000" rIns="180000" anchor="ctr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מאמץ גבוה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High Effort</a:t>
            </a:r>
          </a:p>
        </p:txBody>
      </p:sp>
      <p:sp>
        <p:nvSpPr>
          <p:cNvPr id="228" name="Quad3"/>
          <p:cNvSpPr/>
          <p:nvPr/>
        </p:nvSpPr>
        <p:spPr>
          <a:xfrm>
            <a:off x="6400000" y="3800000"/>
            <a:ext cx="4800000" cy="2400000"/>
          </a:xfrm>
          <a:prstGeom prst="roundRect">
            <a:avLst>
              <a:gd name="adj" fmla="val 5000"/>
            </a:avLst>
          </a:prstGeom>
          <a:solidFill>
            <a:srgbClr val="F5F0EB">
              <a:alpha val="80000"/>
            </a:srgbClr>
          </a:solidFill>
          <a:ln>
            <a:noFill/>
          </a:ln>
        </p:spPr>
        <p:txBody>
          <a:bodyPr wrap="square" lIns="180000" rIns="180000" anchor="ctr"/>
          <a:lstStyle/>
          <a:p>
            <a:pPr algn="ct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מאמץ נמוך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Low Effort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2404885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BigNum19"/>
          <p:cNvSpPr/>
          <p:nvPr/>
        </p:nvSpPr>
        <p:spPr>
          <a:xfrm>
            <a:off x="756000" y="1600000"/>
            <a:ext cx="1068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ctr"/>
            <a:r>
              <a:rPr lang="en-US" sz="10000" b="1" dirty="0">
                <a:solidFill>
                  <a:srgbClr val="FFFFFF"/>
                </a:solidFill>
                <a:latin typeface="Montserrat"/>
              </a:rPr>
              <a:t>2.1M</a:t>
            </a:r>
          </a:p>
        </p:txBody>
      </p:sp>
      <p:sp>
        <p:nvSpPr>
          <p:cNvPr id="231" name="RedLine19"/>
          <p:cNvSpPr/>
          <p:nvPr/>
        </p:nvSpPr>
        <p:spPr>
          <a:xfrm>
            <a:off x="5000000" y="3900000"/>
            <a:ext cx="2200000" cy="5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2" name="HeLabel19"/>
          <p:cNvSpPr/>
          <p:nvPr/>
        </p:nvSpPr>
        <p:spPr>
          <a:xfrm>
            <a:off x="756000" y="4100000"/>
            <a:ext cx="1068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t"/>
          <a:lstStyle/>
          <a:p>
            <a:pPr algn="ctr" rtl="1"/>
            <a:r>
              <a:rPr lang="he-IL" sz="2000" dirty="0">
                <a:solidFill>
                  <a:srgbClr val="F5F0EB"/>
                </a:solidFill>
                <a:latin typeface="Rubik"/>
                <a:cs typeface="Rubik"/>
              </a:rPr>
              <a:t>מבוטחים ברחבי העולם</a:t>
            </a:r>
          </a:p>
        </p:txBody>
      </p:sp>
      <p:sp>
        <p:nvSpPr>
          <p:cNvPr id="233" name="EnLabel19"/>
          <p:cNvSpPr/>
          <p:nvPr/>
        </p:nvSpPr>
        <p:spPr>
          <a:xfrm>
            <a:off x="756000" y="4900000"/>
            <a:ext cx="1068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Montserrat"/>
              </a:rPr>
              <a:t>Members Worldwide</a:t>
            </a:r>
          </a:p>
        </p:txBody>
      </p:sp>
    </p:spTree>
    <p:extLst>
      <p:ext uri="{BB962C8B-B14F-4D97-AF65-F5344CB8AC3E}">
        <p14:creationId xmlns:p14="http://schemas.microsoft.com/office/powerpoint/2010/main" val="422820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itle2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שלושה מדדים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Three KPIs</a:t>
            </a:r>
          </a:p>
        </p:txBody>
      </p:sp>
      <p:sp>
        <p:nvSpPr>
          <p:cNvPr id="241" name="KPICard0"/>
          <p:cNvSpPr/>
          <p:nvPr/>
        </p:nvSpPr>
        <p:spPr>
          <a:xfrm>
            <a:off x="756000" y="1300000"/>
            <a:ext cx="3500000" cy="45000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>
            <a:noFill/>
          </a:ln>
        </p:spPr>
        <p:txBody>
          <a:bodyPr wrap="square" lIns="180000" rIns="180000" anchor="ctr"/>
          <a:lstStyle/>
          <a:p>
            <a:pPr algn="ctr"/>
            <a:r>
              <a:rPr lang="en-US" sz="3600" b="1" dirty="0">
                <a:solidFill>
                  <a:srgbClr val="1A2744"/>
                </a:solidFill>
                <a:latin typeface="Montserrat"/>
              </a:rPr>
              <a:t>150+</a:t>
            </a:r>
          </a:p>
          <a:p>
            <a:pPr algn="ctr" rtl="1"/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מדינות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Countries</a:t>
            </a:r>
          </a:p>
          <a:p>
            <a:endParaRPr lang="en-US" sz="900"/>
          </a:p>
          <a:p>
            <a:pPr algn="ctr"/>
            <a:r>
              <a:rPr lang="en-US" sz="2000" b="1" dirty="0">
                <a:solidFill>
                  <a:srgbClr val="E10514"/>
                </a:solidFill>
                <a:latin typeface="Montserrat"/>
              </a:rPr>
              <a:t>↑</a:t>
            </a:r>
          </a:p>
        </p:txBody>
      </p:sp>
      <p:sp>
        <p:nvSpPr>
          <p:cNvPr id="243" name="KPICard1"/>
          <p:cNvSpPr/>
          <p:nvPr/>
        </p:nvSpPr>
        <p:spPr>
          <a:xfrm>
            <a:off x="4556000" y="1300000"/>
            <a:ext cx="3500000" cy="45000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>
            <a:noFill/>
          </a:ln>
        </p:spPr>
        <p:txBody>
          <a:bodyPr wrap="square" lIns="180000" rIns="180000" anchor="ctr"/>
          <a:lstStyle/>
          <a:p>
            <a:pPr algn="ctr"/>
            <a:r>
              <a:rPr lang="en-US" sz="3600" b="1" dirty="0">
                <a:solidFill>
                  <a:srgbClr val="1A2744"/>
                </a:solidFill>
                <a:latin typeface="Montserrat"/>
              </a:rPr>
              <a:t>1,200+</a:t>
            </a:r>
          </a:p>
          <a:p>
            <a:pPr algn="ctr" rtl="1"/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חשבונות ארגוניים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Corporate Accounts</a:t>
            </a:r>
          </a:p>
          <a:p>
            <a:endParaRPr lang="en-US" sz="900"/>
          </a:p>
          <a:p>
            <a:pPr algn="ctr"/>
            <a:r>
              <a:rPr lang="en-US" sz="2000" b="1" dirty="0">
                <a:solidFill>
                  <a:srgbClr val="E10514"/>
                </a:solidFill>
                <a:latin typeface="Montserrat"/>
              </a:rPr>
              <a:t>↑</a:t>
            </a:r>
          </a:p>
        </p:txBody>
      </p:sp>
      <p:sp>
        <p:nvSpPr>
          <p:cNvPr id="245" name="KPICard2"/>
          <p:cNvSpPr/>
          <p:nvPr/>
        </p:nvSpPr>
        <p:spPr>
          <a:xfrm>
            <a:off x="8356000" y="1300000"/>
            <a:ext cx="3500000" cy="4500000"/>
          </a:xfrm>
          <a:prstGeom prst="roundRect">
            <a:avLst>
              <a:gd name="adj" fmla="val 5000"/>
            </a:avLst>
          </a:prstGeom>
          <a:solidFill>
            <a:srgbClr val="F5F0EB"/>
          </a:solidFill>
          <a:ln>
            <a:noFill/>
          </a:ln>
        </p:spPr>
        <p:txBody>
          <a:bodyPr wrap="square" lIns="180000" rIns="180000" anchor="ctr"/>
          <a:lstStyle/>
          <a:p>
            <a:pPr algn="ctr"/>
            <a:r>
              <a:rPr lang="en-US" sz="3600" b="1" dirty="0">
                <a:solidFill>
                  <a:srgbClr val="1A2744"/>
                </a:solidFill>
                <a:latin typeface="Montserrat"/>
              </a:rPr>
              <a:t>24/7</a:t>
            </a:r>
          </a:p>
          <a:p>
            <a:pPr algn="ctr" rtl="1"/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שירות</a:t>
            </a:r>
          </a:p>
          <a:p>
            <a:pPr algn="ctr"/>
            <a:r>
              <a:rPr lang="en-US" sz="1400" dirty="0">
                <a:solidFill>
                  <a:srgbClr val="333333"/>
                </a:solidFill>
                <a:latin typeface="Montserrat"/>
              </a:rPr>
              <a:t>Service</a:t>
            </a:r>
          </a:p>
          <a:p>
            <a:endParaRPr lang="en-US" sz="900"/>
          </a:p>
          <a:p>
            <a:pPr algn="ctr"/>
            <a:r>
              <a:rPr lang="en-US" sz="2000" b="1" dirty="0">
                <a:solidFill>
                  <a:srgbClr val="E10514"/>
                </a:solidFill>
                <a:latin typeface="Montserrat"/>
              </a:rPr>
              <a:t>✓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59052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גידול בהכנסות מביטוח נסיעות עולה על הצפי לשנה שלישית ברציפות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914400"/>
            <a:ext cx="1026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Travel Insurance Revenue Growth ($ Millions)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963168" y="1463040"/>
          <a:ext cx="10265664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60320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מגמת צמיחה בבסיס המבוטחים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914400"/>
            <a:ext cx="1026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Insured Member Growth Trend (Thousands)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963168" y="1463040"/>
          <a:ext cx="10265664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25894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התפלגות הכנסות לפי אזור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914400"/>
            <a:ext cx="10265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Revenue Distribution by Region</a:t>
            </a:r>
          </a:p>
        </p:txBody>
      </p:sp>
      <p:graphicFrame>
        <p:nvGraphicFramePr>
          <p:cNvPr id="4" name="Chart 0"/>
          <p:cNvGraphicFramePr/>
          <p:nvPr/>
        </p:nvGraphicFramePr>
        <p:xfrm>
          <a:off x="1714500" y="1427480"/>
          <a:ext cx="5486400" cy="463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2489200" y="3225800"/>
            <a:ext cx="2438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1A27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$310M</a:t>
            </a:r>
            <a:endParaRPr lang="en-US" sz="24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38821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243840"/>
            <a:ext cx="10265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לוח מחוונים ניהולי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670560"/>
            <a:ext cx="10265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Executive Dashboard</a:t>
            </a:r>
          </a:p>
        </p:txBody>
      </p:sp>
      <p:sp>
        <p:nvSpPr>
          <p:cNvPr id="4" name="Shape 2"/>
          <p:cNvSpPr/>
          <p:nvPr/>
        </p:nvSpPr>
        <p:spPr>
          <a:xfrm>
            <a:off x="963168" y="1158240"/>
            <a:ext cx="4876800" cy="243840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3168" y="1158240"/>
            <a:ext cx="4876800" cy="609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07008" y="1341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הכנסות / Revenue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07008" y="176784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A27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$310M</a:t>
            </a:r>
            <a:endParaRPr lang="en-US" sz="40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07008" y="2865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+35%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05728" y="1158240"/>
            <a:ext cx="4876800" cy="243840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05728" y="1158240"/>
            <a:ext cx="4876800" cy="609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9568" y="1341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מבוטחים / Members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49568" y="176784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A27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2.1M</a:t>
            </a:r>
            <a:endParaRPr lang="en-US" sz="40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49568" y="286512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+28%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63168" y="3840480"/>
            <a:ext cx="4876800" cy="243840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3168" y="3840480"/>
            <a:ext cx="4876800" cy="609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07008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שביעות רצון / CSAT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207008" y="445008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A27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92%</a:t>
            </a:r>
            <a:endParaRPr lang="en-US" sz="40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07008" y="554736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+5pts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05728" y="3840480"/>
            <a:ext cx="4876800" cy="2438400"/>
          </a:xfrm>
          <a:prstGeom prst="rect">
            <a:avLst/>
          </a:prstGeom>
          <a:solidFill>
            <a:srgbClr val="F8F9FA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05728" y="3840480"/>
            <a:ext cx="4876800" cy="6096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49568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67" dirty="0">
                <a:solidFill>
                  <a:srgbClr val="64748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שווקים / Markets</a:t>
            </a:r>
            <a:endParaRPr lang="en-US" sz="14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49568" y="4450080"/>
            <a:ext cx="438912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4000" b="1" dirty="0">
                <a:solidFill>
                  <a:srgbClr val="1A274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150+</a:t>
            </a:r>
            <a:endParaRPr lang="en-US" sz="40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49568" y="5547360"/>
            <a:ext cx="4389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00" b="1" dirty="0">
                <a:solidFill>
                  <a:srgbClr val="28A74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+12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9584280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itle25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ניתוח SWOT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SWOT Analysis</a:t>
            </a:r>
          </a:p>
        </p:txBody>
      </p:sp>
      <p:sp>
        <p:nvSpPr>
          <p:cNvPr id="291" name="SWOT0"/>
          <p:cNvSpPr/>
          <p:nvPr/>
        </p:nvSpPr>
        <p:spPr>
          <a:xfrm>
            <a:off x="756000" y="1050000"/>
            <a:ext cx="5200000" cy="2500000"/>
          </a:xfrm>
          <a:prstGeom prst="roundRect">
            <a:avLst>
              <a:gd name="adj" fmla="val 5000"/>
            </a:avLst>
          </a:prstGeom>
          <a:solidFill>
            <a:srgbClr val="1A2744">
              <a:alpha val="12000"/>
            </a:srgbClr>
          </a:solidFill>
          <a:ln>
            <a:noFill/>
          </a:ln>
        </p:spPr>
        <p:txBody>
          <a:bodyPr wrap="square" lIns="180000" tIns="140000" rIns="180000" rtlCol="1" anchor="t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חוזקות</a:t>
            </a:r>
            <a:r>
              <a:rPr lang="en-US" sz="1400" b="1" dirty="0">
                <a:solidFill>
                  <a:srgbClr val="E10514"/>
                </a:solidFill>
                <a:latin typeface="Montserrat"/>
              </a:rPr>
              <a:t>  S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מוצר דיגיטלי מוביל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מומחיות גלובלית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כרטיס תשלום חכם</a:t>
            </a:r>
          </a:p>
        </p:txBody>
      </p:sp>
      <p:sp>
        <p:nvSpPr>
          <p:cNvPr id="292" name="SWOT1"/>
          <p:cNvSpPr/>
          <p:nvPr/>
        </p:nvSpPr>
        <p:spPr>
          <a:xfrm>
            <a:off x="6200000" y="1050000"/>
            <a:ext cx="5200000" cy="2500000"/>
          </a:xfrm>
          <a:prstGeom prst="roundRect">
            <a:avLst>
              <a:gd name="adj" fmla="val 5000"/>
            </a:avLst>
          </a:prstGeom>
          <a:solidFill>
            <a:srgbClr val="E10514">
              <a:alpha val="8000"/>
            </a:srgbClr>
          </a:solidFill>
          <a:ln>
            <a:noFill/>
          </a:ln>
        </p:spPr>
        <p:txBody>
          <a:bodyPr wrap="square" lIns="180000" tIns="140000" rIns="180000" rtlCol="1" anchor="t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חולשות</a:t>
            </a:r>
            <a:r>
              <a:rPr lang="en-US" sz="1400" b="1" dirty="0">
                <a:solidFill>
                  <a:srgbClr val="E10514"/>
                </a:solidFill>
                <a:latin typeface="Montserrat"/>
              </a:rPr>
              <a:t>  W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מודעות מותג מוגבלת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תלות ברגולציה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תחרות גבוהה</a:t>
            </a:r>
          </a:p>
        </p:txBody>
      </p:sp>
      <p:sp>
        <p:nvSpPr>
          <p:cNvPr id="293" name="SWOT2"/>
          <p:cNvSpPr/>
          <p:nvPr/>
        </p:nvSpPr>
        <p:spPr>
          <a:xfrm>
            <a:off x="756000" y="3800000"/>
            <a:ext cx="5200000" cy="2500000"/>
          </a:xfrm>
          <a:prstGeom prst="roundRect">
            <a:avLst>
              <a:gd name="adj" fmla="val 5000"/>
            </a:avLst>
          </a:prstGeom>
          <a:solidFill>
            <a:srgbClr val="1A2744">
              <a:alpha val="6000"/>
            </a:srgbClr>
          </a:solidFill>
          <a:ln>
            <a:noFill/>
          </a:ln>
        </p:spPr>
        <p:txBody>
          <a:bodyPr wrap="square" lIns="180000" tIns="140000" rIns="180000" rtlCol="1" anchor="t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הזדמנויות</a:t>
            </a:r>
            <a:r>
              <a:rPr lang="en-US" sz="1400" b="1" dirty="0">
                <a:solidFill>
                  <a:srgbClr val="E10514"/>
                </a:solidFill>
                <a:latin typeface="Montserrat"/>
              </a:rPr>
              <a:t>  O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שווקים מתפתחים באסיה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שיתופי פעולה אסטרטגיים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הזדמנויות ב-insurtech</a:t>
            </a:r>
          </a:p>
        </p:txBody>
      </p:sp>
      <p:sp>
        <p:nvSpPr>
          <p:cNvPr id="294" name="SWOT3"/>
          <p:cNvSpPr/>
          <p:nvPr/>
        </p:nvSpPr>
        <p:spPr>
          <a:xfrm>
            <a:off x="6200000" y="3800000"/>
            <a:ext cx="5200000" cy="2500000"/>
          </a:xfrm>
          <a:prstGeom prst="roundRect">
            <a:avLst>
              <a:gd name="adj" fmla="val 5000"/>
            </a:avLst>
          </a:prstGeom>
          <a:solidFill>
            <a:srgbClr val="FEBCBD">
              <a:alpha val="40000"/>
            </a:srgbClr>
          </a:solidFill>
          <a:ln>
            <a:noFill/>
          </a:ln>
        </p:spPr>
        <p:txBody>
          <a:bodyPr wrap="square" lIns="180000" tIns="140000" rIns="180000" rtlCol="1" anchor="t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איומים</a:t>
            </a:r>
            <a:r>
              <a:rPr lang="en-US" sz="1400" b="1" dirty="0">
                <a:solidFill>
                  <a:srgbClr val="E10514"/>
                </a:solidFill>
                <a:latin typeface="Montserrat"/>
              </a:rPr>
              <a:t>  T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תחרות גוברת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שינויי רגולציה</a:t>
            </a:r>
          </a:p>
          <a:p>
            <a:pPr algn="r" rtl="1">
              <a:buFont typeface="Arial"/>
              <a:buChar char="•"/>
            </a:pPr>
            <a:r>
              <a:rPr lang="he-IL" sz="1400" dirty="0">
                <a:solidFill>
                  <a:srgbClr val="333333"/>
                </a:solidFill>
                <a:latin typeface="Rubik"/>
                <a:cs typeface="Rubik"/>
              </a:rPr>
              <a:t>סיכוני סייבר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980756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מפת דרכים 2026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792480"/>
            <a:ext cx="10265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Roadmap 2026</a:t>
            </a:r>
          </a:p>
        </p:txBody>
      </p:sp>
      <p:sp>
        <p:nvSpPr>
          <p:cNvPr id="4" name="Shape 2"/>
          <p:cNvSpPr/>
          <p:nvPr/>
        </p:nvSpPr>
        <p:spPr>
          <a:xfrm>
            <a:off x="963168" y="1341120"/>
            <a:ext cx="2505456" cy="4267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5" name="Text 3"/>
          <p:cNvSpPr/>
          <p:nvPr/>
        </p:nvSpPr>
        <p:spPr>
          <a:xfrm>
            <a:off x="963168" y="1341120"/>
            <a:ext cx="250545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Q1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529584" y="1341120"/>
            <a:ext cx="2505456" cy="4267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7" name="Text 5"/>
          <p:cNvSpPr/>
          <p:nvPr/>
        </p:nvSpPr>
        <p:spPr>
          <a:xfrm>
            <a:off x="3529584" y="1341120"/>
            <a:ext cx="250545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Q2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096000" y="1341120"/>
            <a:ext cx="2505456" cy="4267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0" y="1341120"/>
            <a:ext cx="250545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Q3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62416" y="1341120"/>
            <a:ext cx="2505456" cy="42672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62416" y="1341120"/>
            <a:ext cx="2505456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Q4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21920" y="2133600"/>
            <a:ext cx="792480" cy="85344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1920" y="2133600"/>
            <a:ext cx="792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מוצר / Product</a:t>
            </a:r>
            <a:endParaRPr lang="en-US" sz="9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24128" y="2133600"/>
            <a:ext cx="2383536" cy="85344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4128" y="213360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V2 Launch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590544" y="2133600"/>
            <a:ext cx="2383536" cy="85344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90544" y="213360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Asia Features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56960" y="2133600"/>
            <a:ext cx="2383536" cy="85344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56960" y="213360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Claims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723376" y="2133600"/>
            <a:ext cx="2383536" cy="853440"/>
          </a:xfrm>
          <a:prstGeom prst="rect">
            <a:avLst/>
          </a:prstGeom>
          <a:solidFill>
            <a:srgbClr val="1A274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723376" y="213360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V3 Beta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1920" y="3535680"/>
            <a:ext cx="792480" cy="85344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21920" y="3535680"/>
            <a:ext cx="792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שיווק / Marketing</a:t>
            </a:r>
            <a:endParaRPr lang="en-US" sz="9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24128" y="3535680"/>
            <a:ext cx="2383536" cy="853440"/>
          </a:xfrm>
          <a:prstGeom prst="rect">
            <a:avLst/>
          </a:prstGeom>
          <a:solidFill>
            <a:srgbClr val="E1051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24128" y="353568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Refresh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590544" y="3535680"/>
            <a:ext cx="2383536" cy="853440"/>
          </a:xfrm>
          <a:prstGeom prst="rect">
            <a:avLst/>
          </a:prstGeom>
          <a:solidFill>
            <a:srgbClr val="E1051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590544" y="353568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Asia Campaign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56960" y="3535680"/>
            <a:ext cx="2383536" cy="853440"/>
          </a:xfrm>
          <a:prstGeom prst="rect">
            <a:avLst/>
          </a:prstGeom>
          <a:solidFill>
            <a:srgbClr val="E1051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156960" y="353568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Events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723376" y="3535680"/>
            <a:ext cx="2383536" cy="853440"/>
          </a:xfrm>
          <a:prstGeom prst="rect">
            <a:avLst/>
          </a:prstGeom>
          <a:solidFill>
            <a:srgbClr val="E10514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23376" y="353568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Year Review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21920" y="4937760"/>
            <a:ext cx="792480" cy="85344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21920" y="4937760"/>
            <a:ext cx="7924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תפעול / Operations</a:t>
            </a:r>
            <a:endParaRPr lang="en-US" sz="9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024128" y="4937760"/>
            <a:ext cx="2383536" cy="85344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24128" y="493776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Process Audit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590544" y="4937760"/>
            <a:ext cx="2383536" cy="85344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590544" y="493776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156960" y="4937760"/>
            <a:ext cx="2383536" cy="85344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156960" y="493776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Team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723376" y="4937760"/>
            <a:ext cx="2383536" cy="853440"/>
          </a:xfrm>
          <a:prstGeom prst="rect">
            <a:avLst/>
          </a:prstGeom>
          <a:solidFill>
            <a:srgbClr val="64748B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723376" y="4937760"/>
            <a:ext cx="238353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 Cert</a:t>
            </a:r>
            <a:endParaRPr lang="en-US" sz="12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44621" y="1828800"/>
            <a:ext cx="0" cy="3901440"/>
          </a:xfrm>
          <a:prstGeom prst="line">
            <a:avLst/>
          </a:prstGeom>
          <a:noFill/>
          <a:ln w="25400">
            <a:solidFill>
              <a:srgbClr val="E10514"/>
            </a:solidFill>
            <a:prstDash val="dash"/>
          </a:ln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656941" y="5669280"/>
            <a:ext cx="9753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00" b="1" dirty="0">
                <a:solidFill>
                  <a:srgbClr val="E1051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067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9405441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סטטוס פרויקטים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792480"/>
            <a:ext cx="10265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Project Status</a:t>
            </a:r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963168" y="1280160"/>
          <a:ext cx="10241280" cy="323088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פריט / Item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סטטוס / Status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אחראי / Owner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תאריך / Due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הערות / Notes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השקת מוצר V2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● On Track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Product Team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Q1 2026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בהתאם ללוח זמנים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קמפיין אסיה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8C0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● At Risk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Marketing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Q2 2026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ממתין לאישור תקציב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אוטומציית תביעות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● On Track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Tech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Q3 2026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POC הושלם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הסמכת ISO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1051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● Delayed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Operations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Q4 2026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עיכוב של חודש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גיוס כ"א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8A745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● On Track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HR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Ongoing</a:t>
                      </a:r>
                      <a:endParaRPr lang="en-US" sz="12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744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15 משרות פתוחות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697282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3168" y="365760"/>
            <a:ext cx="102656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he-IL" sz="2400" b="1" dirty="0">
                <a:solidFill>
                  <a:srgbClr val="1A2744"/>
                </a:solidFill>
                <a:latin typeface="Rubik"/>
                <a:cs typeface="Rubik"/>
              </a:rPr>
              <a:t>המלצה</a:t>
            </a:r>
          </a:p>
        </p:txBody>
      </p:sp>
      <p:sp>
        <p:nvSpPr>
          <p:cNvPr id="3" name="Text 1"/>
          <p:cNvSpPr/>
          <p:nvPr/>
        </p:nvSpPr>
        <p:spPr>
          <a:xfrm>
            <a:off x="963168" y="792480"/>
            <a:ext cx="1026566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dirty="0">
                <a:solidFill>
                  <a:srgbClr val="64748B"/>
                </a:solidFill>
                <a:latin typeface="Montserrat"/>
                <a:cs typeface="Montserrat"/>
              </a:rPr>
              <a:t>Recommendation</a:t>
            </a:r>
          </a:p>
        </p:txBody>
      </p:sp>
      <p:sp>
        <p:nvSpPr>
          <p:cNvPr id="4" name="Shape 2"/>
          <p:cNvSpPr/>
          <p:nvPr/>
        </p:nvSpPr>
        <p:spPr>
          <a:xfrm>
            <a:off x="963168" y="1341120"/>
            <a:ext cx="10265664" cy="1463040"/>
          </a:xfrm>
          <a:prstGeom prst="rect">
            <a:avLst/>
          </a:prstGeom>
          <a:solidFill>
            <a:srgbClr val="F5F0EB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155680" y="1341120"/>
            <a:ext cx="73152" cy="1463040"/>
          </a:xfrm>
          <a:prstGeom prst="rect">
            <a:avLst/>
          </a:prstGeom>
          <a:solidFill>
            <a:srgbClr val="E1051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328928" y="1463040"/>
            <a:ext cx="941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8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מומלץ להשקיע $15M בהרחבת הפעילות באסיה תוך שמירה על קצב צמיחה של 30%+ בשווקים קיימים</a:t>
            </a:r>
            <a:endParaRPr lang="en-US" sz="18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0253472" y="3169920"/>
            <a:ext cx="670560" cy="670560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392" y="3291840"/>
            <a:ext cx="426720" cy="426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3168" y="316992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שוק אסיאתי צומח ב-25% שנתי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63168" y="353568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Asian market growing at 25% annually — $2.3B TAM</a:t>
            </a:r>
            <a:endParaRPr lang="en-US" sz="13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253472" y="4267200"/>
            <a:ext cx="670560" cy="670560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5392" y="4389120"/>
            <a:ext cx="426720" cy="4267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63168" y="426720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יתרון תחרותי בטכנולוגיית תשלום ישיר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963168" y="463296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 payment technology is a clear competitive moat</a:t>
            </a:r>
            <a:endParaRPr lang="en-US" sz="13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0253472" y="5364480"/>
            <a:ext cx="670560" cy="670560"/>
          </a:xfrm>
          <a:prstGeom prst="ellipse">
            <a:avLst/>
          </a:prstGeom>
          <a:solidFill>
            <a:srgbClr val="1A2744"/>
          </a:solidFill>
          <a:ln/>
        </p:spPr>
        <p:txBody>
          <a:bodyPr/>
          <a:lstStyle/>
          <a:p>
            <a:pPr defTabSz="1219170"/>
            <a:endParaRPr lang="en-IL" sz="2400">
              <a:solidFill>
                <a:srgbClr val="333333"/>
              </a:solidFill>
              <a:latin typeface="Montserrat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75392" y="5486400"/>
            <a:ext cx="426720" cy="4267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3168" y="536448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600" b="1" dirty="0">
                <a:solidFill>
                  <a:srgbClr val="1A2744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ROI צפוי: 3.2x תוך 3 שנים</a:t>
            </a:r>
            <a:endParaRPr lang="en-US" sz="160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963168" y="5730240"/>
            <a:ext cx="880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1219170"/>
            <a:r>
              <a:rPr lang="en-US" sz="140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Expected ROI: 3.2x within 3 years based on EU expansion model</a:t>
            </a:r>
            <a:endParaRPr lang="en-US" sz="1333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27598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itle27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סטטוס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Status</a:t>
            </a:r>
          </a:p>
        </p:txBody>
      </p:sp>
      <p:sp>
        <p:nvSpPr>
          <p:cNvPr id="331" name="StatusTable"/>
          <p:cNvSpPr/>
          <p:nvPr/>
        </p:nvSpPr>
        <p:spPr>
          <a:xfrm>
            <a:off x="756000" y="1050000"/>
            <a:ext cx="10680000" cy="5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744">
                <a:alpha val="15000"/>
              </a:srgbClr>
            </a:solidFill>
          </a:ln>
        </p:spPr>
        <p:txBody>
          <a:bodyPr wrap="square" lIns="180000" rIns="180000" anchor="ctr"/>
          <a:lstStyle/>
          <a:p>
            <a:pPr algn="ctr"/>
            <a:r>
              <a:rPr lang="en-US" sz="1400" dirty="0">
                <a:solidFill>
                  <a:srgbClr val="1A2744"/>
                </a:solidFill>
                <a:latin typeface="Montserrat"/>
              </a:rPr>
              <a:t>[Status Table Placeholder]</a:t>
            </a:r>
          </a:p>
          <a:p>
            <a:pPr algn="ctr" rtl="1"/>
            <a:r>
              <a:rPr lang="he-IL" sz="1200" dirty="0">
                <a:solidFill>
                  <a:srgbClr val="333333"/>
                </a:solidFill>
                <a:latin typeface="Rubik"/>
                <a:cs typeface="Rubik"/>
              </a:rPr>
              <a:t>פריט/Item | סטטוס/Status (RAG) | אחראי/Owner | תאריך/Due | הערות/Notes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53443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Title28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המלצה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Recommendation</a:t>
            </a:r>
          </a:p>
        </p:txBody>
      </p:sp>
      <p:sp>
        <p:nvSpPr>
          <p:cNvPr id="341" name="RedBorderRec"/>
          <p:cNvSpPr/>
          <p:nvPr/>
        </p:nvSpPr>
        <p:spPr>
          <a:xfrm>
            <a:off x="756000" y="1100000"/>
            <a:ext cx="72000" cy="160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2" name="RecBox"/>
          <p:cNvSpPr/>
          <p:nvPr/>
        </p:nvSpPr>
        <p:spPr>
          <a:xfrm>
            <a:off x="950000" y="1100000"/>
            <a:ext cx="10500000" cy="1600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wrap="square" lIns="180000" rIns="180000" rtlCol="1" anchor="ctr"/>
          <a:lstStyle/>
          <a:p>
            <a:pPr algn="r" rtl="1"/>
            <a:r>
              <a:rPr lang="he-IL" sz="1800" b="1" dirty="0">
                <a:solidFill>
                  <a:srgbClr val="1A2744"/>
                </a:solidFill>
                <a:latin typeface="Rubik"/>
                <a:cs typeface="Rubik"/>
              </a:rPr>
              <a:t>המלצתנו להרחיב את הפעילות ל-15 שווקים חדשים בשנה הקרובה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We recommend expanding operations to 15 new markets in the coming year</a:t>
            </a:r>
          </a:p>
        </p:txBody>
      </p:sp>
      <p:sp>
        <p:nvSpPr>
          <p:cNvPr id="343" name="Args"/>
          <p:cNvSpPr/>
          <p:nvPr/>
        </p:nvSpPr>
        <p:spPr>
          <a:xfrm>
            <a:off x="756000" y="3100000"/>
            <a:ext cx="10500000" cy="3200000"/>
          </a:xfrm>
          <a:prstGeom prst="rect">
            <a:avLst/>
          </a:prstGeom>
          <a:noFill/>
          <a:ln>
            <a:noFill/>
          </a:ln>
        </p:spPr>
        <p:txBody>
          <a:bodyPr wrap="square" lIns="180000" rIns="180000" rtlCol="1" anchor="t"/>
          <a:lstStyle/>
          <a:p>
            <a:pPr algn="r" rtl="1">
              <a:buFont typeface="Arial"/>
              <a:buChar char="•"/>
            </a:pPr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ניתוח שוק מראה ROI של 3.2x בשווקים דומים</a:t>
            </a:r>
          </a:p>
          <a:p>
            <a:pPr algn="r" rtl="1">
              <a:buFont typeface="Arial"/>
              <a:buChar char="•"/>
            </a:pPr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התשתית הדיגיטלית מאפשרת אינטגרציה מהירה</a:t>
            </a:r>
          </a:p>
          <a:p>
            <a:pPr algn="r" rtl="1">
              <a:buFont typeface="Arial"/>
              <a:buChar char="•"/>
            </a:pPr>
            <a:r>
              <a:rPr lang="he-IL" sz="1600" dirty="0">
                <a:solidFill>
                  <a:srgbClr val="1A2744"/>
                </a:solidFill>
                <a:latin typeface="Rubik"/>
                <a:cs typeface="Rubik"/>
              </a:rPr>
              <a:t>שותפויות אסטרטגיות ב-5 שווקים מפתח כבר קיימות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619007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29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נקודות מפתח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Key Takeaways</a:t>
            </a:r>
          </a:p>
        </p:txBody>
      </p:sp>
      <p:sp>
        <p:nvSpPr>
          <p:cNvPr id="351" name="TkNum0"/>
          <p:cNvSpPr/>
          <p:nvPr/>
        </p:nvSpPr>
        <p:spPr>
          <a:xfrm>
            <a:off x="756000" y="1100000"/>
            <a:ext cx="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01</a:t>
            </a:r>
          </a:p>
        </p:txBody>
      </p:sp>
      <p:sp>
        <p:nvSpPr>
          <p:cNvPr id="352" name="TkText0"/>
          <p:cNvSpPr/>
          <p:nvPr/>
        </p:nvSpPr>
        <p:spPr>
          <a:xfrm>
            <a:off x="1800000" y="1100000"/>
            <a:ext cx="96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צמיחה עקבית בכל השווקים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Consistent growth across all markets</a:t>
            </a:r>
          </a:p>
        </p:txBody>
      </p:sp>
      <p:sp>
        <p:nvSpPr>
          <p:cNvPr id="353" name="TkNum1"/>
          <p:cNvSpPr/>
          <p:nvPr/>
        </p:nvSpPr>
        <p:spPr>
          <a:xfrm>
            <a:off x="756000" y="2150000"/>
            <a:ext cx="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02</a:t>
            </a:r>
          </a:p>
        </p:txBody>
      </p:sp>
      <p:sp>
        <p:nvSpPr>
          <p:cNvPr id="354" name="TkText1"/>
          <p:cNvSpPr/>
          <p:nvPr/>
        </p:nvSpPr>
        <p:spPr>
          <a:xfrm>
            <a:off x="1800000" y="2150000"/>
            <a:ext cx="96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מובילות דיגיטלית מובילה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Leading digital-first capabilities</a:t>
            </a:r>
          </a:p>
        </p:txBody>
      </p:sp>
      <p:sp>
        <p:nvSpPr>
          <p:cNvPr id="355" name="TkNum2"/>
          <p:cNvSpPr/>
          <p:nvPr/>
        </p:nvSpPr>
        <p:spPr>
          <a:xfrm>
            <a:off x="756000" y="3200000"/>
            <a:ext cx="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03</a:t>
            </a:r>
          </a:p>
        </p:txBody>
      </p:sp>
      <p:sp>
        <p:nvSpPr>
          <p:cNvPr id="356" name="TkText2"/>
          <p:cNvSpPr/>
          <p:nvPr/>
        </p:nvSpPr>
        <p:spPr>
          <a:xfrm>
            <a:off x="1800000" y="3200000"/>
            <a:ext cx="96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הרחבה ל;15 שווקים חדשים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Expansion to 15 new markets planned</a:t>
            </a:r>
          </a:p>
        </p:txBody>
      </p:sp>
      <p:sp>
        <p:nvSpPr>
          <p:cNvPr id="357" name="TkNum3"/>
          <p:cNvSpPr/>
          <p:nvPr/>
        </p:nvSpPr>
        <p:spPr>
          <a:xfrm>
            <a:off x="756000" y="4250000"/>
            <a:ext cx="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04</a:t>
            </a:r>
          </a:p>
        </p:txBody>
      </p:sp>
      <p:sp>
        <p:nvSpPr>
          <p:cNvPr id="358" name="TkText3"/>
          <p:cNvSpPr/>
          <p:nvPr/>
        </p:nvSpPr>
        <p:spPr>
          <a:xfrm>
            <a:off x="1800000" y="4250000"/>
            <a:ext cx="96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השקעה בפלטפורמת תביעות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Investment in claims platform</a:t>
            </a:r>
          </a:p>
        </p:txBody>
      </p:sp>
      <p:sp>
        <p:nvSpPr>
          <p:cNvPr id="359" name="TkNum4"/>
          <p:cNvSpPr/>
          <p:nvPr/>
        </p:nvSpPr>
        <p:spPr>
          <a:xfrm>
            <a:off x="756000" y="5300000"/>
            <a:ext cx="9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E10514"/>
                </a:solidFill>
                <a:latin typeface="Montserrat"/>
              </a:rPr>
              <a:t>05</a:t>
            </a:r>
          </a:p>
        </p:txBody>
      </p:sp>
      <p:sp>
        <p:nvSpPr>
          <p:cNvPr id="360" name="TkText4"/>
          <p:cNvSpPr/>
          <p:nvPr/>
        </p:nvSpPr>
        <p:spPr>
          <a:xfrm>
            <a:off x="1800000" y="5300000"/>
            <a:ext cx="9600000" cy="8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1600" b="1" dirty="0">
                <a:solidFill>
                  <a:srgbClr val="1A2744"/>
                </a:solidFill>
                <a:latin typeface="Rubik"/>
                <a:cs typeface="Rubik"/>
              </a:rPr>
              <a:t>חיזוק שותפויות אסטרטגיות</a:t>
            </a:r>
          </a:p>
          <a:p>
            <a:pPr algn="r" rtl="0"/>
            <a:r>
              <a:rPr lang="en-US" sz="1400" dirty="0">
                <a:solidFill>
                  <a:srgbClr val="333333"/>
                </a:solidFill>
                <a:latin typeface="Montserrat"/>
              </a:rPr>
              <a:t>Strengthening strategic partnerships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32960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itle30"/>
          <p:cNvSpPr/>
          <p:nvPr/>
        </p:nvSpPr>
        <p:spPr>
          <a:xfrm>
            <a:off x="0" y="0"/>
            <a:ext cx="12192000" cy="9000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txBody>
          <a:bodyPr wrap="square" rtlCol="1" anchor="ctr"/>
          <a:lstStyle/>
          <a:p>
            <a:pPr algn="r" rtl="1"/>
            <a:r>
              <a:rPr lang="he-IL" sz="2400" b="1" dirty="0">
                <a:solidFill>
                  <a:srgbClr val="FFFFFF"/>
                </a:solidFill>
                <a:latin typeface="Rubik"/>
                <a:cs typeface="Rubik"/>
              </a:rPr>
              <a:t>משימות</a:t>
            </a:r>
            <a:r>
              <a:rPr lang="en-US" sz="1600" dirty="0">
                <a:solidFill>
                  <a:srgbClr val="F5F0EB"/>
                </a:solidFill>
                <a:latin typeface="Montserrat"/>
              </a:rPr>
              <a:t>   Action Items</a:t>
            </a:r>
          </a:p>
        </p:txBody>
      </p:sp>
      <p:sp>
        <p:nvSpPr>
          <p:cNvPr id="371" name="ActionTable"/>
          <p:cNvSpPr/>
          <p:nvPr/>
        </p:nvSpPr>
        <p:spPr>
          <a:xfrm>
            <a:off x="756000" y="1050000"/>
            <a:ext cx="10680000" cy="5400000"/>
          </a:xfrm>
          <a:prstGeom prst="rect">
            <a:avLst/>
          </a:prstGeom>
          <a:solidFill>
            <a:srgbClr val="F5F0EB"/>
          </a:solidFill>
          <a:ln w="12700">
            <a:solidFill>
              <a:srgbClr val="1A2744">
                <a:alpha val="15000"/>
              </a:srgbClr>
            </a:solidFill>
          </a:ln>
        </p:spPr>
        <p:txBody>
          <a:bodyPr wrap="square" lIns="180000" rIns="180000" anchor="ctr"/>
          <a:lstStyle/>
          <a:p>
            <a:pPr algn="ctr"/>
            <a:r>
              <a:rPr lang="en-US" sz="1400" dirty="0">
                <a:solidFill>
                  <a:srgbClr val="1A2744"/>
                </a:solidFill>
                <a:latin typeface="Montserrat"/>
              </a:rPr>
              <a:t>[Action Items Table Placeholder]</a:t>
            </a:r>
          </a:p>
          <a:p>
            <a:pPr algn="ctr" rtl="1"/>
            <a:r>
              <a:rPr lang="he-IL" sz="1200" dirty="0">
                <a:solidFill>
                  <a:srgbClr val="333333"/>
                </a:solidFill>
                <a:latin typeface="Rubik"/>
                <a:cs typeface="Rubik"/>
              </a:rPr>
              <a:t># | משימה/Action | אחראי/Owner | תאריך יעד/Due | סטטוס/Status</a:t>
            </a:r>
          </a:p>
        </p:txBody>
      </p:sp>
      <p:sp>
        <p:nvSpPr>
          <p:cNvPr id="999" name="Footer"/>
          <p:cNvSpPr/>
          <p:nvPr/>
        </p:nvSpPr>
        <p:spPr>
          <a:xfrm>
            <a:off x="304800" y="64008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b"/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Montserrat"/>
              </a:rPr>
              <a:t>PassportCard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94989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daHe"/>
          <p:cNvSpPr/>
          <p:nvPr/>
        </p:nvSpPr>
        <p:spPr>
          <a:xfrm>
            <a:off x="756000" y="1500000"/>
            <a:ext cx="1068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b"/>
          <a:lstStyle/>
          <a:p>
            <a:pPr algn="ctr" rtl="1"/>
            <a:r>
              <a:rPr lang="he-IL" sz="4800" b="1" dirty="0">
                <a:solidFill>
                  <a:srgbClr val="FFFFFF"/>
                </a:solidFill>
                <a:latin typeface="Rubik"/>
                <a:cs typeface="Rubik"/>
              </a:rPr>
              <a:t>תודה</a:t>
            </a:r>
          </a:p>
        </p:txBody>
      </p:sp>
      <p:sp>
        <p:nvSpPr>
          <p:cNvPr id="381" name="ThankEn"/>
          <p:cNvSpPr/>
          <p:nvPr/>
        </p:nvSpPr>
        <p:spPr>
          <a:xfrm>
            <a:off x="756000" y="2800000"/>
            <a:ext cx="1068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2400" dirty="0">
                <a:solidFill>
                  <a:srgbClr val="F5F0EB"/>
                </a:solidFill>
                <a:latin typeface="Montserrat"/>
              </a:rPr>
              <a:t>Thank You</a:t>
            </a:r>
          </a:p>
        </p:txBody>
      </p:sp>
      <p:sp>
        <p:nvSpPr>
          <p:cNvPr id="382" name="RedLine31"/>
          <p:cNvSpPr/>
          <p:nvPr/>
        </p:nvSpPr>
        <p:spPr>
          <a:xfrm>
            <a:off x="5000000" y="3600000"/>
            <a:ext cx="2200000" cy="5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3" name="Contact"/>
          <p:cNvSpPr/>
          <p:nvPr/>
        </p:nvSpPr>
        <p:spPr>
          <a:xfrm>
            <a:off x="756000" y="3900000"/>
            <a:ext cx="1068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ontserrat"/>
              </a:rPr>
              <a:t>presenter@passportcard.com  |  www.passportcard.com</a:t>
            </a:r>
          </a:p>
        </p:txBody>
      </p:sp>
      <p:sp>
        <p:nvSpPr>
          <p:cNvPr id="384" name="Logo31"/>
          <p:cNvSpPr/>
          <p:nvPr/>
        </p:nvSpPr>
        <p:spPr>
          <a:xfrm>
            <a:off x="4600000" y="5500000"/>
            <a:ext cx="3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Montserrat"/>
              </a:rPr>
              <a:t>PASSPORTCARD</a:t>
            </a:r>
          </a:p>
        </p:txBody>
      </p:sp>
      <p:sp>
        <p:nvSpPr>
          <p:cNvPr id="385" name="CardRender31"/>
          <p:cNvSpPr/>
          <p:nvPr/>
        </p:nvSpPr>
        <p:spPr>
          <a:xfrm rot="900000">
            <a:off x="9200000" y="4600000"/>
            <a:ext cx="2200000" cy="1400000"/>
          </a:xfrm>
          <a:prstGeom prst="roundRect">
            <a:avLst>
              <a:gd name="adj" fmla="val 10000"/>
            </a:avLst>
          </a:prstGeom>
          <a:solidFill>
            <a:srgbClr val="E10514">
              <a:alpha val="15000"/>
            </a:srgbClr>
          </a:solidFill>
          <a:ln w="12700">
            <a:solidFill>
              <a:srgbClr val="E10514">
                <a:alpha val="25000"/>
              </a:srgbClr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33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AppendixHe"/>
          <p:cNvSpPr/>
          <p:nvPr/>
        </p:nvSpPr>
        <p:spPr>
          <a:xfrm>
            <a:off x="756000" y="2000000"/>
            <a:ext cx="1068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1" anchor="b"/>
          <a:lstStyle/>
          <a:p>
            <a:pPr algn="ctr" rtl="1"/>
            <a:r>
              <a:rPr lang="he-IL" sz="4000" b="1" dirty="0">
                <a:solidFill>
                  <a:srgbClr val="FFFFFF"/>
                </a:solidFill>
                <a:latin typeface="Rubik"/>
                <a:cs typeface="Rubik"/>
              </a:rPr>
              <a:t>נספח</a:t>
            </a:r>
          </a:p>
        </p:txBody>
      </p:sp>
      <p:sp>
        <p:nvSpPr>
          <p:cNvPr id="391" name="AppendixEn"/>
          <p:cNvSpPr/>
          <p:nvPr/>
        </p:nvSpPr>
        <p:spPr>
          <a:xfrm>
            <a:off x="756000" y="3300000"/>
            <a:ext cx="1068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F5F0EB"/>
                </a:solidFill>
                <a:latin typeface="Montserrat"/>
              </a:rPr>
              <a:t>Appendix</a:t>
            </a:r>
          </a:p>
        </p:txBody>
      </p:sp>
      <p:sp>
        <p:nvSpPr>
          <p:cNvPr id="392" name="RedLine32"/>
          <p:cNvSpPr/>
          <p:nvPr/>
        </p:nvSpPr>
        <p:spPr>
          <a:xfrm>
            <a:off x="5000000" y="4100000"/>
            <a:ext cx="2200000" cy="50000"/>
          </a:xfrm>
          <a:prstGeom prst="rect">
            <a:avLst/>
          </a:prstGeom>
          <a:solidFill>
            <a:srgbClr val="E1051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3" name="Logo32"/>
          <p:cNvSpPr/>
          <p:nvPr/>
        </p:nvSpPr>
        <p:spPr>
          <a:xfrm>
            <a:off x="4600000" y="580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Montserrat"/>
              </a:rPr>
              <a:t>PASSPORTCARD</a:t>
            </a:r>
          </a:p>
        </p:txBody>
      </p:sp>
    </p:spTree>
    <p:extLst>
      <p:ext uri="{BB962C8B-B14F-4D97-AF65-F5344CB8AC3E}">
        <p14:creationId xmlns:p14="http://schemas.microsoft.com/office/powerpoint/2010/main" val="2117776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ssportCard">
      <a:dk1>
        <a:srgbClr val="1A2744"/>
      </a:dk1>
      <a:lt1>
        <a:srgbClr val="FFFFFF"/>
      </a:lt1>
      <a:dk2>
        <a:srgbClr val="333333"/>
      </a:dk2>
      <a:lt2>
        <a:srgbClr val="F5F0EB"/>
      </a:lt2>
      <a:accent1>
        <a:srgbClr val="E10514"/>
      </a:accent1>
      <a:accent2>
        <a:srgbClr val="A2191C"/>
      </a:accent2>
      <a:accent3>
        <a:srgbClr val="FEBCBD"/>
      </a:accent3>
      <a:accent4>
        <a:srgbClr val="1A2744"/>
      </a:accent4>
      <a:accent5>
        <a:srgbClr val="64748B"/>
      </a:accent5>
      <a:accent6>
        <a:srgbClr val="F5F0EB"/>
      </a:accent6>
      <a:hlink>
        <a:srgbClr val="E10514"/>
      </a:hlink>
      <a:folHlink>
        <a:srgbClr val="A2191C"/>
      </a:folHlink>
    </a:clrScheme>
    <a:fontScheme name="PassportCard Fonts">
      <a:majorFont>
        <a:latin typeface="Montserrat" panose="02110004020202020204"/>
        <a:ea typeface=""/>
        <a:cs typeface="Rubik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Rubik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 panose="02110004020202020204"/>
        <a:ea typeface=""/>
        <a:cs typeface="Rubik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Rubik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8D7851-570B-439F-B23A-36553026C9B1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1575</Words>
  <Application>Microsoft Office PowerPoint</Application>
  <PresentationFormat>Widescreen</PresentationFormat>
  <Paragraphs>509</Paragraphs>
  <Slides>45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0" baseType="lpstr">
      <vt:lpstr>Aptos</vt:lpstr>
      <vt:lpstr>Arial</vt:lpstr>
      <vt:lpstr>Montserrat</vt:lpstr>
      <vt:lpstr>Rubik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Akiva</dc:creator>
  <cp:lastModifiedBy>Ben Akiva</cp:lastModifiedBy>
  <cp:revision>8</cp:revision>
  <dcterms:created xsi:type="dcterms:W3CDTF">2026-03-16T22:02:13Z</dcterms:created>
  <dcterms:modified xsi:type="dcterms:W3CDTF">2026-03-20T00:28:48Z</dcterms:modified>
</cp:coreProperties>
</file>